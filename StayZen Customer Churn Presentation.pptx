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Poppins" charset="1" panose="00000500000000000000"/>
      <p:regular r:id="rId33"/>
    </p:embeddedFont>
    <p:embeddedFont>
      <p:font typeface="Poppins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gif" Type="http://schemas.openxmlformats.org/officeDocument/2006/relationships/image"/><Relationship Id="rId7" Target="https://public.tableau.com/views/Churn_Dashboard_17647194498900/Overviewpage?:language=en-US&amp;:sid=&amp;:redirect=auth&amp;:display_count=n&amp;:origin=viz_share_link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Relationship Id="rId3" Target="../media/VAG7EJCz6cg.mp4" Type="http://schemas.openxmlformats.org/officeDocument/2006/relationships/video"/><Relationship Id="rId4" Target="../media/VAG7EJCz6cg.mp4" Type="http://schemas.microsoft.com/office/2007/relationships/media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12860" y="6927786"/>
            <a:ext cx="4059190" cy="3482447"/>
          </a:xfrm>
          <a:custGeom>
            <a:avLst/>
            <a:gdLst/>
            <a:ahLst/>
            <a:cxnLst/>
            <a:rect r="r" b="b" t="t" l="l"/>
            <a:pathLst>
              <a:path h="3482447" w="4059190">
                <a:moveTo>
                  <a:pt x="0" y="0"/>
                </a:moveTo>
                <a:lnTo>
                  <a:pt x="4059190" y="0"/>
                </a:lnTo>
                <a:lnTo>
                  <a:pt x="4059190" y="3482446"/>
                </a:lnTo>
                <a:lnTo>
                  <a:pt x="0" y="3482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0094" y="538164"/>
            <a:ext cx="3089206" cy="3243261"/>
          </a:xfrm>
          <a:custGeom>
            <a:avLst/>
            <a:gdLst/>
            <a:ahLst/>
            <a:cxnLst/>
            <a:rect r="r" b="b" t="t" l="l"/>
            <a:pathLst>
              <a:path h="3243261" w="3089206">
                <a:moveTo>
                  <a:pt x="0" y="0"/>
                </a:moveTo>
                <a:lnTo>
                  <a:pt x="3089206" y="0"/>
                </a:lnTo>
                <a:lnTo>
                  <a:pt x="3089206" y="3243261"/>
                </a:lnTo>
                <a:lnTo>
                  <a:pt x="0" y="3243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7961" y="6001489"/>
            <a:ext cx="1123207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data-driven approach to understanding and reducing customer churn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Supervised by: Eng Mahmoud Emad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08975" y="4808959"/>
            <a:ext cx="1187005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DD5768"/>
                </a:solidFill>
                <a:latin typeface="Poppins Bold"/>
                <a:ea typeface="Poppins Bold"/>
                <a:cs typeface="Poppins Bold"/>
                <a:sym typeface="Poppins Bold"/>
              </a:rPr>
              <a:t>Keeping Cus</a:t>
            </a:r>
            <a:r>
              <a:rPr lang="en-US" b="true" sz="4800">
                <a:solidFill>
                  <a:srgbClr val="DD5768"/>
                </a:solidFill>
                <a:latin typeface="Poppins Bold"/>
                <a:ea typeface="Poppins Bold"/>
                <a:cs typeface="Poppins Bold"/>
                <a:sym typeface="Poppins Bold"/>
              </a:rPr>
              <a:t>tomers, Reducing Churn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8625" y="1009650"/>
            <a:ext cx="2089249" cy="70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DD5768"/>
                </a:solidFill>
                <a:latin typeface="Poppins Bold"/>
                <a:ea typeface="Poppins Bold"/>
                <a:cs typeface="Poppins Bold"/>
                <a:sym typeface="Poppins Bold"/>
              </a:rPr>
              <a:t>StayZen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049477">
            <a:off x="-687921" y="-1099659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2682558" y="0"/>
                </a:moveTo>
                <a:lnTo>
                  <a:pt x="0" y="0"/>
                </a:lnTo>
                <a:lnTo>
                  <a:pt x="0" y="3778250"/>
                </a:lnTo>
                <a:lnTo>
                  <a:pt x="2682558" y="3778250"/>
                </a:lnTo>
                <a:lnTo>
                  <a:pt x="26825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03265">
            <a:off x="14515281" y="7856555"/>
            <a:ext cx="5488037" cy="2860639"/>
          </a:xfrm>
          <a:custGeom>
            <a:avLst/>
            <a:gdLst/>
            <a:ahLst/>
            <a:cxnLst/>
            <a:rect r="r" b="b" t="t" l="l"/>
            <a:pathLst>
              <a:path h="2860639" w="5488037">
                <a:moveTo>
                  <a:pt x="0" y="0"/>
                </a:moveTo>
                <a:lnTo>
                  <a:pt x="5488038" y="0"/>
                </a:lnTo>
                <a:lnTo>
                  <a:pt x="5488038" y="2860640"/>
                </a:lnTo>
                <a:lnTo>
                  <a:pt x="0" y="2860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62901" y="2998905"/>
            <a:ext cx="5145965" cy="4593943"/>
          </a:xfrm>
          <a:custGeom>
            <a:avLst/>
            <a:gdLst/>
            <a:ahLst/>
            <a:cxnLst/>
            <a:rect r="r" b="b" t="t" l="l"/>
            <a:pathLst>
              <a:path h="4593943" w="5145965">
                <a:moveTo>
                  <a:pt x="0" y="0"/>
                </a:moveTo>
                <a:lnTo>
                  <a:pt x="5145965" y="0"/>
                </a:lnTo>
                <a:lnTo>
                  <a:pt x="5145965" y="4593943"/>
                </a:lnTo>
                <a:lnTo>
                  <a:pt x="0" y="4593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7182" y="3177329"/>
            <a:ext cx="296531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Team:</a:t>
            </a:r>
            <a:r>
              <a:rPr lang="en-US" sz="4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7182" y="4364947"/>
            <a:ext cx="7186818" cy="278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507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Engi Eid    </a:t>
            </a:r>
          </a:p>
          <a:p>
            <a:pPr algn="just" marL="777240" indent="-388620" lvl="1">
              <a:lnSpc>
                <a:spcPts val="550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Hager Elmalah</a:t>
            </a:r>
          </a:p>
          <a:p>
            <a:pPr algn="just" marL="777240" indent="-388620" lvl="1">
              <a:lnSpc>
                <a:spcPts val="550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Mazen Tarek</a:t>
            </a:r>
          </a:p>
          <a:p>
            <a:pPr algn="just" marL="777240" indent="-388620" lvl="1">
              <a:lnSpc>
                <a:spcPts val="550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Nada Alaa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2062" y="3053504"/>
            <a:ext cx="257130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74D61"/>
                </a:solidFill>
                <a:latin typeface="Poppins Bold"/>
                <a:ea typeface="Poppins Bold"/>
                <a:cs typeface="Poppins Bold"/>
                <a:sym typeface="Poppins Bold"/>
              </a:rPr>
              <a:t>StayZen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74D61">
                <a:alpha val="9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1244" y="-1874821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20387" y="2542051"/>
            <a:ext cx="6895406" cy="5202897"/>
          </a:xfrm>
          <a:custGeom>
            <a:avLst/>
            <a:gdLst/>
            <a:ahLst/>
            <a:cxnLst/>
            <a:rect r="r" b="b" t="t" l="l"/>
            <a:pathLst>
              <a:path h="5202897" w="6895406">
                <a:moveTo>
                  <a:pt x="0" y="0"/>
                </a:moveTo>
                <a:lnTo>
                  <a:pt x="6895406" y="0"/>
                </a:lnTo>
                <a:lnTo>
                  <a:pt x="6895406" y="5202898"/>
                </a:lnTo>
                <a:lnTo>
                  <a:pt x="0" y="5202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5710" y="2446801"/>
            <a:ext cx="720555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710" y="3431413"/>
            <a:ext cx="7940603" cy="569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783"/>
              </a:lnSpc>
              <a:buFont typeface="Arial"/>
              <a:buChar char="•"/>
            </a:pPr>
            <a:r>
              <a:rPr lang="en-US" sz="2199" spc="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telecom industry is highly competitive, with customers having multiple alternatives.</a:t>
            </a:r>
          </a:p>
          <a:p>
            <a:pPr algn="l">
              <a:lnSpc>
                <a:spcPts val="3783"/>
              </a:lnSpc>
            </a:pPr>
          </a:p>
          <a:p>
            <a:pPr algn="l" marL="474979" indent="-237490" lvl="1">
              <a:lnSpc>
                <a:spcPts val="3783"/>
              </a:lnSpc>
              <a:buFont typeface="Arial"/>
              <a:buChar char="•"/>
            </a:pPr>
            <a:r>
              <a:rPr lang="en-US" sz="2199" spc="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retention is more cost-effective than acquiring new customers.</a:t>
            </a:r>
          </a:p>
          <a:p>
            <a:pPr algn="l">
              <a:lnSpc>
                <a:spcPts val="3783"/>
              </a:lnSpc>
            </a:pPr>
          </a:p>
          <a:p>
            <a:pPr algn="l" marL="474979" indent="-237490" lvl="1">
              <a:lnSpc>
                <a:spcPts val="3783"/>
              </a:lnSpc>
              <a:buFont typeface="Arial"/>
              <a:buChar char="•"/>
            </a:pPr>
            <a:r>
              <a:rPr lang="en-US" sz="2199" spc="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Managing churn is essential to maintain stable revenue and improve long-term profitability.</a:t>
            </a:r>
          </a:p>
          <a:p>
            <a:pPr algn="l">
              <a:lnSpc>
                <a:spcPts val="3783"/>
              </a:lnSpc>
            </a:pPr>
          </a:p>
          <a:p>
            <a:pPr algn="l" marL="474979" indent="-237490" lvl="1">
              <a:lnSpc>
                <a:spcPts val="3783"/>
              </a:lnSpc>
              <a:buFont typeface="Arial"/>
              <a:buChar char="•"/>
            </a:pPr>
            <a:r>
              <a:rPr lang="en-US" sz="2199" spc="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project focuses on understanding customer behavior and identifying factors leading to churn.</a:t>
            </a:r>
          </a:p>
          <a:p>
            <a:pPr algn="l">
              <a:lnSpc>
                <a:spcPts val="3783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7200900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518871" y="-512234"/>
            <a:ext cx="3761418" cy="3226984"/>
          </a:xfrm>
          <a:custGeom>
            <a:avLst/>
            <a:gdLst/>
            <a:ahLst/>
            <a:cxnLst/>
            <a:rect r="r" b="b" t="t" l="l"/>
            <a:pathLst>
              <a:path h="3226984" w="3761418">
                <a:moveTo>
                  <a:pt x="3761418" y="3226983"/>
                </a:moveTo>
                <a:lnTo>
                  <a:pt x="0" y="3226983"/>
                </a:lnTo>
                <a:lnTo>
                  <a:pt x="0" y="0"/>
                </a:lnTo>
                <a:lnTo>
                  <a:pt x="3761418" y="0"/>
                </a:lnTo>
                <a:lnTo>
                  <a:pt x="3761418" y="32269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93132" y="3233721"/>
            <a:ext cx="714066" cy="3911617"/>
            <a:chOff x="0" y="0"/>
            <a:chExt cx="208979" cy="11447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979" cy="1144777"/>
            </a:xfrm>
            <a:custGeom>
              <a:avLst/>
              <a:gdLst/>
              <a:ahLst/>
              <a:cxnLst/>
              <a:rect r="r" b="b" t="t" l="l"/>
              <a:pathLst>
                <a:path h="1144777" w="208979">
                  <a:moveTo>
                    <a:pt x="104490" y="0"/>
                  </a:moveTo>
                  <a:lnTo>
                    <a:pt x="104490" y="0"/>
                  </a:lnTo>
                  <a:cubicBezTo>
                    <a:pt x="132202" y="0"/>
                    <a:pt x="158779" y="11009"/>
                    <a:pt x="178375" y="30604"/>
                  </a:cubicBezTo>
                  <a:cubicBezTo>
                    <a:pt x="197970" y="50200"/>
                    <a:pt x="208979" y="76777"/>
                    <a:pt x="208979" y="104490"/>
                  </a:cubicBezTo>
                  <a:lnTo>
                    <a:pt x="208979" y="1040287"/>
                  </a:lnTo>
                  <a:cubicBezTo>
                    <a:pt x="208979" y="1068000"/>
                    <a:pt x="197970" y="1094577"/>
                    <a:pt x="178375" y="1114173"/>
                  </a:cubicBezTo>
                  <a:cubicBezTo>
                    <a:pt x="158779" y="1133768"/>
                    <a:pt x="132202" y="1144777"/>
                    <a:pt x="104490" y="1144777"/>
                  </a:cubicBezTo>
                  <a:lnTo>
                    <a:pt x="104490" y="1144777"/>
                  </a:lnTo>
                  <a:cubicBezTo>
                    <a:pt x="46782" y="1144777"/>
                    <a:pt x="0" y="1097995"/>
                    <a:pt x="0" y="1040287"/>
                  </a:cubicBezTo>
                  <a:lnTo>
                    <a:pt x="0" y="104490"/>
                  </a:lnTo>
                  <a:cubicBezTo>
                    <a:pt x="0" y="46782"/>
                    <a:pt x="46782" y="0"/>
                    <a:pt x="104490" y="0"/>
                  </a:cubicBezTo>
                  <a:close/>
                </a:path>
              </a:pathLst>
            </a:custGeom>
            <a:solidFill>
              <a:srgbClr val="E74D6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8979" cy="1201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2003265">
            <a:off x="14515281" y="7497770"/>
            <a:ext cx="5488037" cy="2860639"/>
          </a:xfrm>
          <a:custGeom>
            <a:avLst/>
            <a:gdLst/>
            <a:ahLst/>
            <a:cxnLst/>
            <a:rect r="r" b="b" t="t" l="l"/>
            <a:pathLst>
              <a:path h="2860639" w="5488037">
                <a:moveTo>
                  <a:pt x="0" y="0"/>
                </a:moveTo>
                <a:lnTo>
                  <a:pt x="5488038" y="0"/>
                </a:lnTo>
                <a:lnTo>
                  <a:pt x="5488038" y="2860639"/>
                </a:lnTo>
                <a:lnTo>
                  <a:pt x="0" y="2860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41423" y="3338012"/>
            <a:ext cx="3703035" cy="3703035"/>
          </a:xfrm>
          <a:custGeom>
            <a:avLst/>
            <a:gdLst/>
            <a:ahLst/>
            <a:cxnLst/>
            <a:rect r="r" b="b" t="t" l="l"/>
            <a:pathLst>
              <a:path h="3703035" w="3703035">
                <a:moveTo>
                  <a:pt x="0" y="0"/>
                </a:moveTo>
                <a:lnTo>
                  <a:pt x="3703035" y="0"/>
                </a:lnTo>
                <a:lnTo>
                  <a:pt x="3703035" y="3703035"/>
                </a:lnTo>
                <a:lnTo>
                  <a:pt x="0" y="370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15300" y="3290387"/>
            <a:ext cx="7205552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E74D61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15300" y="4263724"/>
            <a:ext cx="9144000" cy="416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158"/>
              </a:lnSpc>
              <a:buFont typeface="Arial"/>
              <a:buChar char="•"/>
            </a:pP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company is experiencing a rising customer churn rate.</a:t>
            </a:r>
          </a:p>
          <a:p>
            <a:pPr algn="l" marL="474981" indent="-237491" lvl="1">
              <a:lnSpc>
                <a:spcPts val="4158"/>
              </a:lnSpc>
              <a:buFont typeface="Arial"/>
              <a:buChar char="•"/>
            </a:pP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Losing customers directly impacts revenue and market share.</a:t>
            </a:r>
          </a:p>
          <a:p>
            <a:pPr algn="l" marL="474981" indent="-237491" lvl="1">
              <a:lnSpc>
                <a:spcPts val="4158"/>
              </a:lnSpc>
              <a:buFont typeface="Arial"/>
              <a:buChar char="•"/>
            </a:pP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business question:</a:t>
            </a:r>
          </a:p>
          <a:p>
            <a:pPr algn="l">
              <a:lnSpc>
                <a:spcPts val="4158"/>
              </a:lnSpc>
            </a:pP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“Which customers are most likely to churn, and why?”</a:t>
            </a:r>
          </a:p>
          <a:p>
            <a:pPr algn="l" marL="474981" indent="-237491" lvl="1">
              <a:lnSpc>
                <a:spcPts val="4158"/>
              </a:lnSpc>
              <a:buFont typeface="Arial"/>
              <a:buChar char="•"/>
            </a:pPr>
            <a:r>
              <a:rPr lang="en-US" sz="2200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Understanding churn drivers helps target customers with personalized retention strategies.</a:t>
            </a:r>
          </a:p>
          <a:p>
            <a:pPr algn="l">
              <a:lnSpc>
                <a:spcPts val="415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3822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74D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535746" y="3584020"/>
            <a:ext cx="4779639" cy="4336436"/>
          </a:xfrm>
          <a:custGeom>
            <a:avLst/>
            <a:gdLst/>
            <a:ahLst/>
            <a:cxnLst/>
            <a:rect r="r" b="b" t="t" l="l"/>
            <a:pathLst>
              <a:path h="4336436" w="4779639">
                <a:moveTo>
                  <a:pt x="0" y="0"/>
                </a:moveTo>
                <a:lnTo>
                  <a:pt x="4779639" y="0"/>
                </a:lnTo>
                <a:lnTo>
                  <a:pt x="4779639" y="4336436"/>
                </a:lnTo>
                <a:lnTo>
                  <a:pt x="0" y="4336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60637" y="1244600"/>
            <a:ext cx="778570" cy="849630"/>
          </a:xfrm>
          <a:custGeom>
            <a:avLst/>
            <a:gdLst/>
            <a:ahLst/>
            <a:cxnLst/>
            <a:rect r="r" b="b" t="t" l="l"/>
            <a:pathLst>
              <a:path h="849630" w="778570">
                <a:moveTo>
                  <a:pt x="0" y="0"/>
                </a:moveTo>
                <a:lnTo>
                  <a:pt x="778570" y="0"/>
                </a:lnTo>
                <a:lnTo>
                  <a:pt x="778570" y="849630"/>
                </a:lnTo>
                <a:lnTo>
                  <a:pt x="0" y="849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0637" y="3239281"/>
            <a:ext cx="778570" cy="587820"/>
          </a:xfrm>
          <a:custGeom>
            <a:avLst/>
            <a:gdLst/>
            <a:ahLst/>
            <a:cxnLst/>
            <a:rect r="r" b="b" t="t" l="l"/>
            <a:pathLst>
              <a:path h="587820" w="778570">
                <a:moveTo>
                  <a:pt x="0" y="0"/>
                </a:moveTo>
                <a:lnTo>
                  <a:pt x="778570" y="0"/>
                </a:lnTo>
                <a:lnTo>
                  <a:pt x="778570" y="587820"/>
                </a:lnTo>
                <a:lnTo>
                  <a:pt x="0" y="587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60637" y="4862209"/>
            <a:ext cx="778570" cy="778570"/>
          </a:xfrm>
          <a:custGeom>
            <a:avLst/>
            <a:gdLst/>
            <a:ahLst/>
            <a:cxnLst/>
            <a:rect r="r" b="b" t="t" l="l"/>
            <a:pathLst>
              <a:path h="778570" w="778570">
                <a:moveTo>
                  <a:pt x="0" y="0"/>
                </a:moveTo>
                <a:lnTo>
                  <a:pt x="778570" y="0"/>
                </a:lnTo>
                <a:lnTo>
                  <a:pt x="778570" y="778570"/>
                </a:lnTo>
                <a:lnTo>
                  <a:pt x="0" y="778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60637" y="6698054"/>
            <a:ext cx="778570" cy="794459"/>
          </a:xfrm>
          <a:custGeom>
            <a:avLst/>
            <a:gdLst/>
            <a:ahLst/>
            <a:cxnLst/>
            <a:rect r="r" b="b" t="t" l="l"/>
            <a:pathLst>
              <a:path h="794459" w="778570">
                <a:moveTo>
                  <a:pt x="0" y="0"/>
                </a:moveTo>
                <a:lnTo>
                  <a:pt x="778570" y="0"/>
                </a:lnTo>
                <a:lnTo>
                  <a:pt x="778570" y="794459"/>
                </a:lnTo>
                <a:lnTo>
                  <a:pt x="0" y="7944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60637" y="8325411"/>
            <a:ext cx="778570" cy="802650"/>
          </a:xfrm>
          <a:custGeom>
            <a:avLst/>
            <a:gdLst/>
            <a:ahLst/>
            <a:cxnLst/>
            <a:rect r="r" b="b" t="t" l="l"/>
            <a:pathLst>
              <a:path h="802650" w="778570">
                <a:moveTo>
                  <a:pt x="0" y="0"/>
                </a:moveTo>
                <a:lnTo>
                  <a:pt x="778570" y="0"/>
                </a:lnTo>
                <a:lnTo>
                  <a:pt x="778570" y="802650"/>
                </a:lnTo>
                <a:lnTo>
                  <a:pt x="0" y="8026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46989" y="1475105"/>
            <a:ext cx="342671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7629" y="1187450"/>
            <a:ext cx="5704841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 in-depth Exploratory Data Analysis (EDA) to understand customer behavior.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37629" y="3182131"/>
            <a:ext cx="570484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an interactive dashboard for business teams to monitor churn.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7629" y="4805059"/>
            <a:ext cx="570484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 predictive model to identify customers at high risk of churn.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14682" y="6640904"/>
            <a:ext cx="570484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 a Streamlit app to provide real-time churn predictions.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36274" y="8268261"/>
            <a:ext cx="570484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Translate findings into clear business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73131" y="3603147"/>
            <a:ext cx="5686169" cy="5655153"/>
          </a:xfrm>
          <a:custGeom>
            <a:avLst/>
            <a:gdLst/>
            <a:ahLst/>
            <a:cxnLst/>
            <a:rect r="r" b="b" t="t" l="l"/>
            <a:pathLst>
              <a:path h="5655153" w="5686169">
                <a:moveTo>
                  <a:pt x="0" y="0"/>
                </a:moveTo>
                <a:lnTo>
                  <a:pt x="5686169" y="0"/>
                </a:lnTo>
                <a:lnTo>
                  <a:pt x="5686169" y="5655153"/>
                </a:lnTo>
                <a:lnTo>
                  <a:pt x="0" y="5655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8160" y="5817821"/>
            <a:ext cx="3167364" cy="3167364"/>
          </a:xfrm>
          <a:custGeom>
            <a:avLst/>
            <a:gdLst/>
            <a:ahLst/>
            <a:cxnLst/>
            <a:rect r="r" b="b" t="t" l="l"/>
            <a:pathLst>
              <a:path h="3167364" w="3167364">
                <a:moveTo>
                  <a:pt x="0" y="0"/>
                </a:moveTo>
                <a:lnTo>
                  <a:pt x="3167365" y="0"/>
                </a:lnTo>
                <a:lnTo>
                  <a:pt x="3167365" y="3167365"/>
                </a:lnTo>
                <a:lnTo>
                  <a:pt x="0" y="316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46989" y="3565047"/>
            <a:ext cx="8478305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Let’s review the dataset to understand the key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792093" y="7779404"/>
            <a:ext cx="3630546" cy="4039550"/>
          </a:xfrm>
          <a:custGeom>
            <a:avLst/>
            <a:gdLst/>
            <a:ahLst/>
            <a:cxnLst/>
            <a:rect r="r" b="b" t="t" l="l"/>
            <a:pathLst>
              <a:path h="4039550" w="3630546">
                <a:moveTo>
                  <a:pt x="3630545" y="4039550"/>
                </a:moveTo>
                <a:lnTo>
                  <a:pt x="0" y="4039550"/>
                </a:lnTo>
                <a:lnTo>
                  <a:pt x="0" y="0"/>
                </a:lnTo>
                <a:lnTo>
                  <a:pt x="3630545" y="0"/>
                </a:lnTo>
                <a:lnTo>
                  <a:pt x="3630545" y="403955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97852" y="-1381197"/>
            <a:ext cx="4059190" cy="3482447"/>
          </a:xfrm>
          <a:custGeom>
            <a:avLst/>
            <a:gdLst/>
            <a:ahLst/>
            <a:cxnLst/>
            <a:rect r="r" b="b" t="t" l="l"/>
            <a:pathLst>
              <a:path h="3482447" w="4059190">
                <a:moveTo>
                  <a:pt x="0" y="0"/>
                </a:moveTo>
                <a:lnTo>
                  <a:pt x="4059191" y="0"/>
                </a:lnTo>
                <a:lnTo>
                  <a:pt x="4059191" y="3482447"/>
                </a:lnTo>
                <a:lnTo>
                  <a:pt x="0" y="3482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2277" y="6822295"/>
            <a:ext cx="3502249" cy="2967360"/>
          </a:xfrm>
          <a:custGeom>
            <a:avLst/>
            <a:gdLst/>
            <a:ahLst/>
            <a:cxnLst/>
            <a:rect r="r" b="b" t="t" l="l"/>
            <a:pathLst>
              <a:path h="2967360" w="3502249">
                <a:moveTo>
                  <a:pt x="0" y="0"/>
                </a:moveTo>
                <a:lnTo>
                  <a:pt x="3502249" y="0"/>
                </a:lnTo>
                <a:lnTo>
                  <a:pt x="3502249" y="2967359"/>
                </a:lnTo>
                <a:lnTo>
                  <a:pt x="0" y="2967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46989" y="1263650"/>
            <a:ext cx="432539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E74D61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b="true" sz="3600">
                <a:solidFill>
                  <a:srgbClr val="E74D61"/>
                </a:solidFill>
                <a:latin typeface="Poppins Bold"/>
                <a:ea typeface="Poppins Bold"/>
                <a:cs typeface="Poppins Bold"/>
                <a:sym typeface="Poppins Bold"/>
              </a:rPr>
              <a:t>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6989" y="2277246"/>
            <a:ext cx="43736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customers: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440,832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6586" y="2277246"/>
            <a:ext cx="31030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Features: </a:t>
            </a: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189678" y="3413125"/>
            <a:ext cx="3584596" cy="3037130"/>
          </a:xfrm>
          <a:custGeom>
            <a:avLst/>
            <a:gdLst/>
            <a:ahLst/>
            <a:cxnLst/>
            <a:rect r="r" b="b" t="t" l="l"/>
            <a:pathLst>
              <a:path h="3037130" w="3584596">
                <a:moveTo>
                  <a:pt x="0" y="0"/>
                </a:moveTo>
                <a:lnTo>
                  <a:pt x="3584596" y="0"/>
                </a:lnTo>
                <a:lnTo>
                  <a:pt x="3584596" y="3037130"/>
                </a:lnTo>
                <a:lnTo>
                  <a:pt x="0" y="30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39930" y="3413125"/>
            <a:ext cx="3584596" cy="3037130"/>
          </a:xfrm>
          <a:custGeom>
            <a:avLst/>
            <a:gdLst/>
            <a:ahLst/>
            <a:cxnLst/>
            <a:rect r="r" b="b" t="t" l="l"/>
            <a:pathLst>
              <a:path h="3037130" w="3584596">
                <a:moveTo>
                  <a:pt x="0" y="0"/>
                </a:moveTo>
                <a:lnTo>
                  <a:pt x="3584596" y="0"/>
                </a:lnTo>
                <a:lnTo>
                  <a:pt x="3584596" y="3037130"/>
                </a:lnTo>
                <a:lnTo>
                  <a:pt x="0" y="30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62311" y="3857525"/>
            <a:ext cx="3231370" cy="35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8"/>
              </a:lnSpc>
            </a:pPr>
            <a:r>
              <a:rPr lang="en-US" sz="19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</a:t>
            </a:r>
            <a:r>
              <a:rPr lang="en-US" sz="19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omer Information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2277" y="4662942"/>
            <a:ext cx="196639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Gender 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35169" y="3413125"/>
            <a:ext cx="3584596" cy="3037130"/>
          </a:xfrm>
          <a:custGeom>
            <a:avLst/>
            <a:gdLst/>
            <a:ahLst/>
            <a:cxnLst/>
            <a:rect r="r" b="b" t="t" l="l"/>
            <a:pathLst>
              <a:path h="3037130" w="3584596">
                <a:moveTo>
                  <a:pt x="0" y="0"/>
                </a:moveTo>
                <a:lnTo>
                  <a:pt x="3584596" y="0"/>
                </a:lnTo>
                <a:lnTo>
                  <a:pt x="3584596" y="3037130"/>
                </a:lnTo>
                <a:lnTo>
                  <a:pt x="0" y="30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35169" y="3562014"/>
            <a:ext cx="3584596" cy="77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Account &amp; Contract Details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99826" y="4448083"/>
            <a:ext cx="292597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CustomerID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Subscription Type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Contract Length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Tenure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89678" y="3562014"/>
            <a:ext cx="3310169" cy="39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Usage Behavior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6011" y="4662942"/>
            <a:ext cx="237261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Usage Frequency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Last Interaction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29577" y="7150347"/>
            <a:ext cx="3096839" cy="39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Billing &amp; Payment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9577" y="7965288"/>
            <a:ext cx="21148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Total Spend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Payment Delay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435169" y="6822295"/>
            <a:ext cx="3584596" cy="3037130"/>
          </a:xfrm>
          <a:custGeom>
            <a:avLst/>
            <a:gdLst/>
            <a:ahLst/>
            <a:cxnLst/>
            <a:rect r="r" b="b" t="t" l="l"/>
            <a:pathLst>
              <a:path h="3037130" w="3584596">
                <a:moveTo>
                  <a:pt x="0" y="0"/>
                </a:moveTo>
                <a:lnTo>
                  <a:pt x="3584596" y="0"/>
                </a:lnTo>
                <a:lnTo>
                  <a:pt x="3584596" y="3037130"/>
                </a:lnTo>
                <a:lnTo>
                  <a:pt x="0" y="30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35169" y="7150347"/>
            <a:ext cx="3584596" cy="77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</a:t>
            </a: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omer Support Interaction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99826" y="8165084"/>
            <a:ext cx="292597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Support Calls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356011" y="6833639"/>
            <a:ext cx="3584596" cy="3037130"/>
          </a:xfrm>
          <a:custGeom>
            <a:avLst/>
            <a:gdLst/>
            <a:ahLst/>
            <a:cxnLst/>
            <a:rect r="r" b="b" t="t" l="l"/>
            <a:pathLst>
              <a:path h="3037130" w="3584596">
                <a:moveTo>
                  <a:pt x="0" y="0"/>
                </a:moveTo>
                <a:lnTo>
                  <a:pt x="3584596" y="0"/>
                </a:lnTo>
                <a:lnTo>
                  <a:pt x="3584596" y="3037130"/>
                </a:lnTo>
                <a:lnTo>
                  <a:pt x="0" y="3037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356011" y="7150347"/>
            <a:ext cx="3584596" cy="39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21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rget Variable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4597" y="8092666"/>
            <a:ext cx="292597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E74D61"/>
                </a:solidFill>
                <a:latin typeface="Poppins"/>
                <a:ea typeface="Poppins"/>
                <a:cs typeface="Poppins"/>
                <a:sym typeface="Poppins"/>
              </a:rPr>
              <a:t>Churn (Yes/No)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705504" y="3488648"/>
            <a:ext cx="7092747" cy="49974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30832" y="3441023"/>
            <a:ext cx="791316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ext, let’s take a look at our findings.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31256" y="2233366"/>
            <a:ext cx="9608275" cy="5058679"/>
          </a:xfrm>
          <a:custGeom>
            <a:avLst/>
            <a:gdLst/>
            <a:ahLst/>
            <a:cxnLst/>
            <a:rect r="r" b="b" t="t" l="l"/>
            <a:pathLst>
              <a:path h="5058679" w="9608275">
                <a:moveTo>
                  <a:pt x="0" y="0"/>
                </a:moveTo>
                <a:lnTo>
                  <a:pt x="9608274" y="0"/>
                </a:lnTo>
                <a:lnTo>
                  <a:pt x="9608274" y="5058678"/>
                </a:lnTo>
                <a:lnTo>
                  <a:pt x="0" y="50586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91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0832" y="3857830"/>
            <a:ext cx="7913168" cy="134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data shows a churn rate of 56.7%, which is exceptionally high and indicates a significant risk of losing more than half of our customer base.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38245" y="4702572"/>
            <a:ext cx="10411510" cy="4282614"/>
          </a:xfrm>
          <a:custGeom>
            <a:avLst/>
            <a:gdLst/>
            <a:ahLst/>
            <a:cxnLst/>
            <a:rect r="r" b="b" t="t" l="l"/>
            <a:pathLst>
              <a:path h="4282614" w="10411510">
                <a:moveTo>
                  <a:pt x="0" y="0"/>
                </a:moveTo>
                <a:lnTo>
                  <a:pt x="10411510" y="0"/>
                </a:lnTo>
                <a:lnTo>
                  <a:pt x="10411510" y="4282614"/>
                </a:lnTo>
                <a:lnTo>
                  <a:pt x="0" y="4282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78622" y="1746250"/>
            <a:ext cx="13930757" cy="209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Contract Length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352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data shows that nearly all customers on a monthly contract type churned, while those on quarterly or annual contracts churned at a 46% rate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44679" y="4697998"/>
            <a:ext cx="10998643" cy="4560302"/>
          </a:xfrm>
          <a:custGeom>
            <a:avLst/>
            <a:gdLst/>
            <a:ahLst/>
            <a:cxnLst/>
            <a:rect r="r" b="b" t="t" l="l"/>
            <a:pathLst>
              <a:path h="4560302" w="10998643">
                <a:moveTo>
                  <a:pt x="0" y="0"/>
                </a:moveTo>
                <a:lnTo>
                  <a:pt x="10998642" y="0"/>
                </a:lnTo>
                <a:lnTo>
                  <a:pt x="10998642" y="4560302"/>
                </a:lnTo>
                <a:lnTo>
                  <a:pt x="0" y="4560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70" t="0" r="0" b="-147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61120" y="1536700"/>
            <a:ext cx="14387770" cy="2102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 Calls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3672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customers who recorded more than five support calls ended up churning, with no exceptions — highlighting a critical dissatisfaction pattern among high-contact users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65291" y="4718109"/>
            <a:ext cx="11357419" cy="4540191"/>
          </a:xfrm>
          <a:custGeom>
            <a:avLst/>
            <a:gdLst/>
            <a:ahLst/>
            <a:cxnLst/>
            <a:rect r="r" b="b" t="t" l="l"/>
            <a:pathLst>
              <a:path h="4540191" w="11357419">
                <a:moveTo>
                  <a:pt x="0" y="0"/>
                </a:moveTo>
                <a:lnTo>
                  <a:pt x="11357418" y="0"/>
                </a:lnTo>
                <a:lnTo>
                  <a:pt x="11357418" y="4540191"/>
                </a:lnTo>
                <a:lnTo>
                  <a:pt x="0" y="4540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6545" y="1759471"/>
            <a:ext cx="15014106" cy="211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Spend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Churn rate : 48.6%</a:t>
            </a:r>
          </a:p>
          <a:p>
            <a:pPr algn="l">
              <a:lnSpc>
                <a:spcPts val="3696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customers whose total spend was below $500 ended up churning, which suggests that low-value customers were far more likely to discontinue the service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47943" y="3170549"/>
            <a:ext cx="7811357" cy="3945903"/>
          </a:xfrm>
          <a:custGeom>
            <a:avLst/>
            <a:gdLst/>
            <a:ahLst/>
            <a:cxnLst/>
            <a:rect r="r" b="b" t="t" l="l"/>
            <a:pathLst>
              <a:path h="3945903" w="7811357">
                <a:moveTo>
                  <a:pt x="0" y="0"/>
                </a:moveTo>
                <a:lnTo>
                  <a:pt x="7811357" y="0"/>
                </a:lnTo>
                <a:lnTo>
                  <a:pt x="7811357" y="3945902"/>
                </a:lnTo>
                <a:lnTo>
                  <a:pt x="0" y="3945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44" t="0" r="-587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5710" y="3552825"/>
            <a:ext cx="7915651" cy="279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delay</a:t>
            </a:r>
          </a:p>
          <a:p>
            <a:pPr algn="l">
              <a:lnSpc>
                <a:spcPts val="3696"/>
              </a:lnSpc>
            </a:pPr>
          </a:p>
          <a:p>
            <a:pPr algn="l">
              <a:lnSpc>
                <a:spcPts val="3696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customer who delayed payment by more than 20 days ended up churning </a:t>
            </a:r>
          </a:p>
          <a:p>
            <a:pPr algn="l">
              <a:lnSpc>
                <a:spcPts val="3696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a clear indication that late payment is strongly associated with customer attrition.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99581" y="3156307"/>
            <a:ext cx="8014283" cy="3974386"/>
          </a:xfrm>
          <a:custGeom>
            <a:avLst/>
            <a:gdLst/>
            <a:ahLst/>
            <a:cxnLst/>
            <a:rect r="r" b="b" t="t" l="l"/>
            <a:pathLst>
              <a:path h="3974386" w="8014283">
                <a:moveTo>
                  <a:pt x="0" y="0"/>
                </a:moveTo>
                <a:lnTo>
                  <a:pt x="8014283" y="0"/>
                </a:lnTo>
                <a:lnTo>
                  <a:pt x="8014283" y="3974386"/>
                </a:lnTo>
                <a:lnTo>
                  <a:pt x="0" y="3974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5710" y="3552825"/>
            <a:ext cx="7915651" cy="340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Usage Frequency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Customers who used the service fewer than ten times in the last month showed a higher likelihood of churning.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99521" y="2982987"/>
            <a:ext cx="7925294" cy="4321026"/>
          </a:xfrm>
          <a:custGeom>
            <a:avLst/>
            <a:gdLst/>
            <a:ahLst/>
            <a:cxnLst/>
            <a:rect r="r" b="b" t="t" l="l"/>
            <a:pathLst>
              <a:path h="4321026" w="7925294">
                <a:moveTo>
                  <a:pt x="0" y="0"/>
                </a:moveTo>
                <a:lnTo>
                  <a:pt x="7925294" y="0"/>
                </a:lnTo>
                <a:lnTo>
                  <a:pt x="7925294" y="4321026"/>
                </a:lnTo>
                <a:lnTo>
                  <a:pt x="0" y="4321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5710" y="3552825"/>
            <a:ext cx="7915651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Last Interaction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Customers whose last interaction with our service was three weeks ago or more showed a higher churn rate compared to those who engaged with us more recently.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8802" y="5317107"/>
            <a:ext cx="17710396" cy="4740630"/>
          </a:xfrm>
          <a:custGeom>
            <a:avLst/>
            <a:gdLst/>
            <a:ahLst/>
            <a:cxnLst/>
            <a:rect r="r" b="b" t="t" l="l"/>
            <a:pathLst>
              <a:path h="4740630" w="17710396">
                <a:moveTo>
                  <a:pt x="0" y="0"/>
                </a:moveTo>
                <a:lnTo>
                  <a:pt x="17710396" y="0"/>
                </a:lnTo>
                <a:lnTo>
                  <a:pt x="17710396" y="4740630"/>
                </a:lnTo>
                <a:lnTo>
                  <a:pt x="0" y="4740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1253" y="2828925"/>
            <a:ext cx="15205494" cy="183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l">
              <a:lnSpc>
                <a:spcPts val="3624"/>
              </a:lnSpc>
            </a:pPr>
          </a:p>
          <a:p>
            <a:pPr algn="l">
              <a:lnSpc>
                <a:spcPts val="3624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➡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customers over 50 years old churned, customers aged 40–50 had a lower churn rate, while churn was somewhat high among customers aged between 18 and 20.”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65518" y="5223126"/>
            <a:ext cx="9956964" cy="4035174"/>
          </a:xfrm>
          <a:custGeom>
            <a:avLst/>
            <a:gdLst/>
            <a:ahLst/>
            <a:cxnLst/>
            <a:rect r="r" b="b" t="t" l="l"/>
            <a:pathLst>
              <a:path h="4035174" w="9956964">
                <a:moveTo>
                  <a:pt x="0" y="0"/>
                </a:moveTo>
                <a:lnTo>
                  <a:pt x="9956964" y="0"/>
                </a:lnTo>
                <a:lnTo>
                  <a:pt x="9956964" y="4035174"/>
                </a:lnTo>
                <a:lnTo>
                  <a:pt x="0" y="4035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02" t="0" r="-216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22727" y="2003907"/>
            <a:ext cx="14642547" cy="21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Gender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Two-third of female customers churned, while less than half of male customers did. Overall, the proportion of male participants in our dataset is higher than that of females.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705504" y="3488648"/>
            <a:ext cx="7092747" cy="49974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30832" y="3441023"/>
            <a:ext cx="791316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ext, let’s take a look at our 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  <a:hlinkClick r:id="rId7" tooltip="https://public.tableau.com/views/Churn_Dashboard_17647194498900/Overviewpage?:language=en-US&amp;:sid=&amp;:redirect=auth&amp;:display_count=n&amp;:origin=viz_share_link"/>
              </a:rPr>
              <a:t>Dashboard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9882" y="0"/>
            <a:ext cx="15508236" cy="10287000"/>
          </a:xfrm>
          <a:custGeom>
            <a:avLst/>
            <a:gdLst/>
            <a:ahLst/>
            <a:cxnLst/>
            <a:rect r="r" b="b" t="t" l="l"/>
            <a:pathLst>
              <a:path h="10287000" w="15508236">
                <a:moveTo>
                  <a:pt x="0" y="0"/>
                </a:moveTo>
                <a:lnTo>
                  <a:pt x="15508236" y="0"/>
                </a:lnTo>
                <a:lnTo>
                  <a:pt x="155082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618" y="0"/>
            <a:ext cx="15540764" cy="10287000"/>
          </a:xfrm>
          <a:custGeom>
            <a:avLst/>
            <a:gdLst/>
            <a:ahLst/>
            <a:cxnLst/>
            <a:rect r="r" b="b" t="t" l="l"/>
            <a:pathLst>
              <a:path h="10287000" w="15540764">
                <a:moveTo>
                  <a:pt x="0" y="0"/>
                </a:moveTo>
                <a:lnTo>
                  <a:pt x="15540764" y="0"/>
                </a:lnTo>
                <a:lnTo>
                  <a:pt x="155407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9070" y="0"/>
            <a:ext cx="15449861" cy="10287000"/>
          </a:xfrm>
          <a:custGeom>
            <a:avLst/>
            <a:gdLst/>
            <a:ahLst/>
            <a:cxnLst/>
            <a:rect r="r" b="b" t="t" l="l"/>
            <a:pathLst>
              <a:path h="10287000" w="15449861">
                <a:moveTo>
                  <a:pt x="0" y="0"/>
                </a:moveTo>
                <a:lnTo>
                  <a:pt x="15449860" y="0"/>
                </a:lnTo>
                <a:lnTo>
                  <a:pt x="154498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705504" y="3488648"/>
            <a:ext cx="7092747" cy="49974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30832" y="3441023"/>
            <a:ext cx="791316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ext, let’s take a look at our predictive model.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29880" y="6596382"/>
            <a:ext cx="3629420" cy="2632979"/>
          </a:xfrm>
          <a:custGeom>
            <a:avLst/>
            <a:gdLst/>
            <a:ahLst/>
            <a:cxnLst/>
            <a:rect r="r" b="b" t="t" l="l"/>
            <a:pathLst>
              <a:path h="2632979" w="3629420">
                <a:moveTo>
                  <a:pt x="0" y="0"/>
                </a:moveTo>
                <a:lnTo>
                  <a:pt x="3629420" y="0"/>
                </a:lnTo>
                <a:lnTo>
                  <a:pt x="3629420" y="2632979"/>
                </a:lnTo>
                <a:lnTo>
                  <a:pt x="0" y="2632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74122" y="1558354"/>
            <a:ext cx="1056421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redictive Models for Customer Churn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04170" y="3950737"/>
            <a:ext cx="969189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machine learning models were built to predict customer churn: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6672" y="6086477"/>
            <a:ext cx="2767757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4222" y="6819108"/>
            <a:ext cx="386377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 = 0.99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 = 0.99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Precision = 0.99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574122" y="6086559"/>
            <a:ext cx="580149" cy="580149"/>
          </a:xfrm>
          <a:custGeom>
            <a:avLst/>
            <a:gdLst/>
            <a:ahLst/>
            <a:cxnLst/>
            <a:rect r="r" b="b" t="t" l="l"/>
            <a:pathLst>
              <a:path h="580149" w="580149">
                <a:moveTo>
                  <a:pt x="0" y="0"/>
                </a:moveTo>
                <a:lnTo>
                  <a:pt x="580150" y="0"/>
                </a:lnTo>
                <a:lnTo>
                  <a:pt x="580150" y="580149"/>
                </a:lnTo>
                <a:lnTo>
                  <a:pt x="0" y="5801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36726" y="6086477"/>
            <a:ext cx="155540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XGB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3525" y="6819108"/>
            <a:ext cx="386377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 = 0.97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 = 0.99</a:t>
            </a:r>
          </a:p>
          <a:p>
            <a:pPr algn="l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Precision = 0.95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52781" y="6086559"/>
            <a:ext cx="580149" cy="580149"/>
          </a:xfrm>
          <a:custGeom>
            <a:avLst/>
            <a:gdLst/>
            <a:ahLst/>
            <a:cxnLst/>
            <a:rect r="r" b="b" t="t" l="l"/>
            <a:pathLst>
              <a:path h="580149" w="580149">
                <a:moveTo>
                  <a:pt x="0" y="0"/>
                </a:moveTo>
                <a:lnTo>
                  <a:pt x="580149" y="0"/>
                </a:lnTo>
                <a:lnTo>
                  <a:pt x="580149" y="580149"/>
                </a:lnTo>
                <a:lnTo>
                  <a:pt x="0" y="5801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04170" y="2353628"/>
            <a:ext cx="10207350" cy="148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136"/>
              </a:lnSpc>
              <a:buFont typeface="Arial"/>
              <a:buChar char="•"/>
            </a:pPr>
            <a:r>
              <a:rPr lang="en-US" sz="2200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targeted retention strategies</a:t>
            </a:r>
          </a:p>
          <a:p>
            <a:pPr algn="l" marL="474981" indent="-237491" lvl="1">
              <a:lnSpc>
                <a:spcPts val="3828"/>
              </a:lnSpc>
              <a:buFont typeface="Arial"/>
              <a:buChar char="•"/>
            </a:pPr>
            <a:r>
              <a:rPr lang="en-US" sz="2200" spc="8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 decision-making for promotions, loyalty programs, and customer support improvements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308240"/>
            <a:ext cx="15808187" cy="845554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263645" y="352425"/>
            <a:ext cx="576071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</a:t>
            </a:r>
            <a:r>
              <a:rPr lang="en-US" sz="4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eamlit App 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98252" y="-27495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705504" y="3488648"/>
            <a:ext cx="7092747" cy="49974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30832" y="3441023"/>
            <a:ext cx="791316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800">
                <a:solidFill>
                  <a:srgbClr val="DD5768"/>
                </a:solidFill>
                <a:latin typeface="Poppins"/>
                <a:ea typeface="Poppins"/>
                <a:cs typeface="Poppins"/>
                <a:sym typeface="Poppins"/>
              </a:rPr>
              <a:t>ext, let’s take a look at our recommendations.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50652" y="-25971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103052" y="-24447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7" y="0"/>
                </a:lnTo>
                <a:lnTo>
                  <a:pt x="2682557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049477">
            <a:off x="-687921" y="-1099659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2682558" y="0"/>
                </a:moveTo>
                <a:lnTo>
                  <a:pt x="0" y="0"/>
                </a:lnTo>
                <a:lnTo>
                  <a:pt x="0" y="3778250"/>
                </a:lnTo>
                <a:lnTo>
                  <a:pt x="2682558" y="3778250"/>
                </a:lnTo>
                <a:lnTo>
                  <a:pt x="26825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03265">
            <a:off x="14515281" y="7554866"/>
            <a:ext cx="5488037" cy="2860639"/>
          </a:xfrm>
          <a:custGeom>
            <a:avLst/>
            <a:gdLst/>
            <a:ahLst/>
            <a:cxnLst/>
            <a:rect r="r" b="b" t="t" l="l"/>
            <a:pathLst>
              <a:path h="2860639" w="5488037">
                <a:moveTo>
                  <a:pt x="0" y="0"/>
                </a:moveTo>
                <a:lnTo>
                  <a:pt x="5488038" y="0"/>
                </a:lnTo>
                <a:lnTo>
                  <a:pt x="5488038" y="2860639"/>
                </a:lnTo>
                <a:lnTo>
                  <a:pt x="0" y="2860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09131" y="3022600"/>
            <a:ext cx="4433339" cy="4405630"/>
          </a:xfrm>
          <a:custGeom>
            <a:avLst/>
            <a:gdLst/>
            <a:ahLst/>
            <a:cxnLst/>
            <a:rect r="r" b="b" t="t" l="l"/>
            <a:pathLst>
              <a:path h="4405630" w="4433339">
                <a:moveTo>
                  <a:pt x="0" y="0"/>
                </a:moveTo>
                <a:lnTo>
                  <a:pt x="4433339" y="0"/>
                </a:lnTo>
                <a:lnTo>
                  <a:pt x="4433339" y="4405630"/>
                </a:lnTo>
                <a:lnTo>
                  <a:pt x="0" y="4405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7182" y="1762397"/>
            <a:ext cx="808088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usiness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7182" y="3008246"/>
            <a:ext cx="9020997" cy="563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retention campaigns for customers with high monthly charges.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 customer support for those with multiple service complaints.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 loyalty programs for long-term customers.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Offer discounts or flexible contracts to high-risk segments.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 spc="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monitoring using dashboards and predictive models.</a:t>
            </a:r>
          </a:p>
          <a:p>
            <a:pPr algn="l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4369663">
            <a:off x="-820388" y="6927786"/>
            <a:ext cx="3698177" cy="4114800"/>
          </a:xfrm>
          <a:custGeom>
            <a:avLst/>
            <a:gdLst/>
            <a:ahLst/>
            <a:cxnLst/>
            <a:rect r="r" b="b" t="t" l="l"/>
            <a:pathLst>
              <a:path h="4114800" w="3698177">
                <a:moveTo>
                  <a:pt x="36981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98176" y="0"/>
                </a:lnTo>
                <a:lnTo>
                  <a:pt x="36981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569" y="-860425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077616">
            <a:off x="15410212" y="7268263"/>
            <a:ext cx="3698176" cy="4114800"/>
          </a:xfrm>
          <a:custGeom>
            <a:avLst/>
            <a:gdLst/>
            <a:ahLst/>
            <a:cxnLst/>
            <a:rect r="r" b="b" t="t" l="l"/>
            <a:pathLst>
              <a:path h="4114800" w="3698176">
                <a:moveTo>
                  <a:pt x="3698176" y="0"/>
                </a:moveTo>
                <a:lnTo>
                  <a:pt x="0" y="0"/>
                </a:lnTo>
                <a:lnTo>
                  <a:pt x="0" y="4114800"/>
                </a:lnTo>
                <a:lnTo>
                  <a:pt x="3698176" y="4114800"/>
                </a:lnTo>
                <a:lnTo>
                  <a:pt x="36981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946721" y="-337650"/>
            <a:ext cx="2682557" cy="3778250"/>
          </a:xfrm>
          <a:custGeom>
            <a:avLst/>
            <a:gdLst/>
            <a:ahLst/>
            <a:cxnLst/>
            <a:rect r="r" b="b" t="t" l="l"/>
            <a:pathLst>
              <a:path h="3778250" w="2682557">
                <a:moveTo>
                  <a:pt x="0" y="0"/>
                </a:moveTo>
                <a:lnTo>
                  <a:pt x="2682558" y="0"/>
                </a:lnTo>
                <a:lnTo>
                  <a:pt x="2682558" y="3778250"/>
                </a:lnTo>
                <a:lnTo>
                  <a:pt x="0" y="3778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0533" y="5325259"/>
            <a:ext cx="3719937" cy="4221205"/>
          </a:xfrm>
          <a:custGeom>
            <a:avLst/>
            <a:gdLst/>
            <a:ahLst/>
            <a:cxnLst/>
            <a:rect r="r" b="b" t="t" l="l"/>
            <a:pathLst>
              <a:path h="4221205" w="3719937">
                <a:moveTo>
                  <a:pt x="0" y="0"/>
                </a:moveTo>
                <a:lnTo>
                  <a:pt x="3719936" y="0"/>
                </a:lnTo>
                <a:lnTo>
                  <a:pt x="3719936" y="4221205"/>
                </a:lnTo>
                <a:lnTo>
                  <a:pt x="0" y="4221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51036" y="1028700"/>
            <a:ext cx="2923715" cy="2790819"/>
          </a:xfrm>
          <a:custGeom>
            <a:avLst/>
            <a:gdLst/>
            <a:ahLst/>
            <a:cxnLst/>
            <a:rect r="r" b="b" t="t" l="l"/>
            <a:pathLst>
              <a:path h="2790819" w="2923715">
                <a:moveTo>
                  <a:pt x="0" y="0"/>
                </a:moveTo>
                <a:lnTo>
                  <a:pt x="2923714" y="0"/>
                </a:lnTo>
                <a:lnTo>
                  <a:pt x="2923714" y="2790819"/>
                </a:lnTo>
                <a:lnTo>
                  <a:pt x="0" y="27908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00402" y="4529137"/>
            <a:ext cx="588719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DAG6lc7iy34</dc:identifier>
  <dcterms:modified xsi:type="dcterms:W3CDTF">2011-08-01T06:04:30Z</dcterms:modified>
  <cp:revision>1</cp:revision>
  <dc:title>StayZen: Customer Churn Presentation</dc:title>
</cp:coreProperties>
</file>