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video/mp4" Extension="mp4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x="18288000" cy="10287000"/>
  <p:notesSz cx="6858000" cy="9144000"/>
  <p:embeddedFontLst>
    <p:embeddedFont>
      <p:font typeface="Poppins" charset="1" panose="00000500000000000000"/>
      <p:regular r:id="rId30"/>
    </p:embeddedFont>
    <p:embeddedFont>
      <p:font typeface="Poppins Bold" charset="1" panose="00000800000000000000"/>
      <p:regular r:id="rId3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31" Target="fonts/font31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15.png" Type="http://schemas.openxmlformats.org/officeDocument/2006/relationships/image"/><Relationship Id="rId9" Target="../media/image16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7.png" Type="http://schemas.openxmlformats.org/officeDocument/2006/relationships/image"/><Relationship Id="rId3" Target="../media/image18.svg" Type="http://schemas.openxmlformats.org/officeDocument/2006/relationships/image"/><Relationship Id="rId4" Target="../media/image19.png" Type="http://schemas.openxmlformats.org/officeDocument/2006/relationships/image"/><Relationship Id="rId5" Target="../media/image20.svg" Type="http://schemas.openxmlformats.org/officeDocument/2006/relationships/image"/><Relationship Id="rId6" Target="../media/image21.png" Type="http://schemas.openxmlformats.org/officeDocument/2006/relationships/image"/><Relationship Id="rId7" Target="../media/image22.svg" Type="http://schemas.openxmlformats.org/officeDocument/2006/relationships/image"/><Relationship Id="rId8" Target="../media/image1.png" Type="http://schemas.openxmlformats.org/officeDocument/2006/relationships/image"/><Relationship Id="rId9" Target="../media/image2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23.png" Type="http://schemas.openxmlformats.org/officeDocument/2006/relationships/image"/><Relationship Id="rId9" Target="../media/image24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png" Type="http://schemas.openxmlformats.org/officeDocument/2006/relationships/image"/><Relationship Id="rId11" Target="../media/image28.svg" Type="http://schemas.openxmlformats.org/officeDocument/2006/relationships/image"/><Relationship Id="rId12" Target="../media/image29.png" Type="http://schemas.openxmlformats.org/officeDocument/2006/relationships/image"/><Relationship Id="rId13" Target="../media/image30.svg" Type="http://schemas.openxmlformats.org/officeDocument/2006/relationships/image"/><Relationship Id="rId14" Target="../media/image31.png" Type="http://schemas.openxmlformats.org/officeDocument/2006/relationships/image"/><Relationship Id="rId15" Target="../media/image32.svg" Type="http://schemas.openxmlformats.org/officeDocument/2006/relationships/image"/><Relationship Id="rId16" Target="../media/image33.png" Type="http://schemas.openxmlformats.org/officeDocument/2006/relationships/image"/><Relationship Id="rId17" Target="../media/image34.svg" Type="http://schemas.openxmlformats.org/officeDocument/2006/relationships/image"/><Relationship Id="rId18" Target="../media/image35.png" Type="http://schemas.openxmlformats.org/officeDocument/2006/relationships/image"/><Relationship Id="rId19" Target="../media/image36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7.png" Type="http://schemas.openxmlformats.org/officeDocument/2006/relationships/image"/><Relationship Id="rId7" Target="../media/image18.svg" Type="http://schemas.openxmlformats.org/officeDocument/2006/relationships/image"/><Relationship Id="rId8" Target="../media/image25.png" Type="http://schemas.openxmlformats.org/officeDocument/2006/relationships/image"/><Relationship Id="rId9" Target="../media/image26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37.png" Type="http://schemas.openxmlformats.org/officeDocument/2006/relationships/image"/><Relationship Id="rId7" Target="../media/image38.svg" Type="http://schemas.openxmlformats.org/officeDocument/2006/relationships/image"/><Relationship Id="rId8" Target="../media/image39.png" Type="http://schemas.openxmlformats.org/officeDocument/2006/relationships/image"/><Relationship Id="rId9" Target="../media/image40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1.png" Type="http://schemas.openxmlformats.org/officeDocument/2006/relationships/image"/><Relationship Id="rId3" Target="../media/image4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43.png" Type="http://schemas.openxmlformats.org/officeDocument/2006/relationships/image"/><Relationship Id="rId9" Target="../media/image44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png" Type="http://schemas.openxmlformats.org/officeDocument/2006/relationships/image"/><Relationship Id="rId11" Target="../media/image48.svg" Type="http://schemas.openxmlformats.org/officeDocument/2006/relationships/image"/><Relationship Id="rId12" Target="../media/image49.png" Type="http://schemas.openxmlformats.org/officeDocument/2006/relationships/image"/><Relationship Id="rId13" Target="../media/image50.svg" Type="http://schemas.openxmlformats.org/officeDocument/2006/relationships/image"/><Relationship Id="rId14" Target="../media/image51.png" Type="http://schemas.openxmlformats.org/officeDocument/2006/relationships/image"/><Relationship Id="rId15" Target="../media/image52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45.png" Type="http://schemas.openxmlformats.org/officeDocument/2006/relationships/image"/><Relationship Id="rId9" Target="../media/image46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3.gif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4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5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6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7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8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9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60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53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1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2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3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7.png" Type="http://schemas.openxmlformats.org/officeDocument/2006/relationships/image"/><Relationship Id="rId11" Target="../media/image48.sv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64.png" Type="http://schemas.openxmlformats.org/officeDocument/2006/relationships/image"/><Relationship Id="rId7" Target="../media/image65.svg" Type="http://schemas.openxmlformats.org/officeDocument/2006/relationships/image"/><Relationship Id="rId8" Target="../media/image45.png" Type="http://schemas.openxmlformats.org/officeDocument/2006/relationships/image"/><Relationship Id="rId9" Target="../media/image46.sv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6.jpeg" Type="http://schemas.openxmlformats.org/officeDocument/2006/relationships/image"/><Relationship Id="rId3" Target="../media/VAG6ptvOhI8.mp4" Type="http://schemas.openxmlformats.org/officeDocument/2006/relationships/video"/><Relationship Id="rId4" Target="../media/VAG6ptvOhI8.mp4" Type="http://schemas.microsoft.com/office/2007/relationships/media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13.png" Type="http://schemas.openxmlformats.org/officeDocument/2006/relationships/image"/><Relationship Id="rId7" Target="../media/image14.svg" Type="http://schemas.openxmlformats.org/officeDocument/2006/relationships/image"/><Relationship Id="rId8" Target="../media/image67.png" Type="http://schemas.openxmlformats.org/officeDocument/2006/relationships/image"/><Relationship Id="rId9" Target="../media/image68.sv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11.png" Type="http://schemas.openxmlformats.org/officeDocument/2006/relationships/image"/><Relationship Id="rId5" Target="../media/image12.svg" Type="http://schemas.openxmlformats.org/officeDocument/2006/relationships/image"/><Relationship Id="rId6" Target="../media/image69.png" Type="http://schemas.openxmlformats.org/officeDocument/2006/relationships/image"/><Relationship Id="rId7" Target="../media/image70.svg" Type="http://schemas.openxmlformats.org/officeDocument/2006/relationships/image"/><Relationship Id="rId8" Target="../media/image7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612860" y="6927786"/>
            <a:ext cx="4059190" cy="3482447"/>
          </a:xfrm>
          <a:custGeom>
            <a:avLst/>
            <a:gdLst/>
            <a:ahLst/>
            <a:cxnLst/>
            <a:rect r="r" b="b" t="t" l="l"/>
            <a:pathLst>
              <a:path h="3482447" w="4059190">
                <a:moveTo>
                  <a:pt x="0" y="0"/>
                </a:moveTo>
                <a:lnTo>
                  <a:pt x="4059190" y="0"/>
                </a:lnTo>
                <a:lnTo>
                  <a:pt x="4059190" y="3482446"/>
                </a:lnTo>
                <a:lnTo>
                  <a:pt x="0" y="348244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170094" y="538164"/>
            <a:ext cx="3089206" cy="3243261"/>
          </a:xfrm>
          <a:custGeom>
            <a:avLst/>
            <a:gdLst/>
            <a:ahLst/>
            <a:cxnLst/>
            <a:rect r="r" b="b" t="t" l="l"/>
            <a:pathLst>
              <a:path h="3243261" w="3089206">
                <a:moveTo>
                  <a:pt x="0" y="0"/>
                </a:moveTo>
                <a:lnTo>
                  <a:pt x="3089206" y="0"/>
                </a:lnTo>
                <a:lnTo>
                  <a:pt x="3089206" y="3243261"/>
                </a:lnTo>
                <a:lnTo>
                  <a:pt x="0" y="324326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3527961" y="6001489"/>
            <a:ext cx="11232079" cy="333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400"/>
              </a:lnSpc>
              <a:spcBef>
                <a:spcPct val="0"/>
              </a:spcBef>
            </a:pPr>
            <a:r>
              <a:rPr lang="en-US" sz="20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 data-driven approach to understanding and reducing customer churn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208975" y="4808959"/>
            <a:ext cx="11870050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b="true" sz="4800">
                <a:solidFill>
                  <a:srgbClr val="DD5768"/>
                </a:solidFill>
                <a:latin typeface="Poppins Bold"/>
                <a:ea typeface="Poppins Bold"/>
                <a:cs typeface="Poppins Bold"/>
                <a:sym typeface="Poppins Bold"/>
              </a:rPr>
              <a:t>Keeping Cus</a:t>
            </a:r>
            <a:r>
              <a:rPr lang="en-US" b="true" sz="4800">
                <a:solidFill>
                  <a:srgbClr val="DD5768"/>
                </a:solidFill>
                <a:latin typeface="Poppins Bold"/>
                <a:ea typeface="Poppins Bold"/>
                <a:cs typeface="Poppins Bold"/>
                <a:sym typeface="Poppins Bold"/>
              </a:rPr>
              <a:t>tomers, Reducing Churn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78625" y="1009650"/>
            <a:ext cx="2089249" cy="7010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60"/>
              </a:lnSpc>
              <a:spcBef>
                <a:spcPct val="0"/>
              </a:spcBef>
            </a:pPr>
            <a:r>
              <a:rPr lang="en-US" b="true" sz="3900">
                <a:solidFill>
                  <a:srgbClr val="DD5768"/>
                </a:solidFill>
                <a:latin typeface="Poppins Bold"/>
                <a:ea typeface="Poppins Bold"/>
                <a:cs typeface="Poppins Bold"/>
                <a:sym typeface="Poppins Bold"/>
              </a:rPr>
              <a:t>StayZen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3049477">
            <a:off x="-687921" y="-1099659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2682558" y="0"/>
                </a:moveTo>
                <a:lnTo>
                  <a:pt x="0" y="0"/>
                </a:lnTo>
                <a:lnTo>
                  <a:pt x="0" y="3778250"/>
                </a:lnTo>
                <a:lnTo>
                  <a:pt x="2682558" y="3778250"/>
                </a:lnTo>
                <a:lnTo>
                  <a:pt x="268255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003265">
            <a:off x="14515281" y="7856555"/>
            <a:ext cx="5488037" cy="2860639"/>
          </a:xfrm>
          <a:custGeom>
            <a:avLst/>
            <a:gdLst/>
            <a:ahLst/>
            <a:cxnLst/>
            <a:rect r="r" b="b" t="t" l="l"/>
            <a:pathLst>
              <a:path h="2860639" w="5488037">
                <a:moveTo>
                  <a:pt x="0" y="0"/>
                </a:moveTo>
                <a:lnTo>
                  <a:pt x="5488038" y="0"/>
                </a:lnTo>
                <a:lnTo>
                  <a:pt x="5488038" y="2860640"/>
                </a:lnTo>
                <a:lnTo>
                  <a:pt x="0" y="286064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1162901" y="2998905"/>
            <a:ext cx="5145965" cy="4593943"/>
          </a:xfrm>
          <a:custGeom>
            <a:avLst/>
            <a:gdLst/>
            <a:ahLst/>
            <a:cxnLst/>
            <a:rect r="r" b="b" t="t" l="l"/>
            <a:pathLst>
              <a:path h="4593943" w="5145965">
                <a:moveTo>
                  <a:pt x="0" y="0"/>
                </a:moveTo>
                <a:lnTo>
                  <a:pt x="5145965" y="0"/>
                </a:lnTo>
                <a:lnTo>
                  <a:pt x="5145965" y="4593943"/>
                </a:lnTo>
                <a:lnTo>
                  <a:pt x="0" y="459394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957182" y="3177329"/>
            <a:ext cx="2965315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Our Team:</a:t>
            </a:r>
            <a:r>
              <a:rPr lang="en-US" sz="42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957182" y="4364947"/>
            <a:ext cx="7186818" cy="2782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77240" indent="-388620" lvl="1">
              <a:lnSpc>
                <a:spcPts val="5508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Engi Eid </a:t>
            </a:r>
          </a:p>
          <a:p>
            <a:pPr algn="just" marL="777240" indent="-388620" lvl="1">
              <a:lnSpc>
                <a:spcPts val="5508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Hager Elmalah</a:t>
            </a:r>
          </a:p>
          <a:p>
            <a:pPr algn="just" marL="777240" indent="-388620" lvl="1">
              <a:lnSpc>
                <a:spcPts val="5508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Mazen Tarek</a:t>
            </a:r>
          </a:p>
          <a:p>
            <a:pPr algn="just" marL="777240" indent="-388620" lvl="1">
              <a:lnSpc>
                <a:spcPts val="5508"/>
              </a:lnSpc>
              <a:buFont typeface="Arial"/>
              <a:buChar char="•"/>
            </a:pPr>
            <a:r>
              <a:rPr lang="en-US" sz="36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Nada Alaa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892062" y="3053504"/>
            <a:ext cx="2571304" cy="8686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  <a:spcBef>
                <a:spcPct val="0"/>
              </a:spcBef>
            </a:pPr>
            <a:r>
              <a:rPr lang="en-US" b="true" sz="4800">
                <a:solidFill>
                  <a:srgbClr val="E74D61"/>
                </a:solidFill>
                <a:latin typeface="Poppins Bold"/>
                <a:ea typeface="Poppins Bold"/>
                <a:cs typeface="Poppins Bold"/>
                <a:sym typeface="Poppins Bold"/>
              </a:rPr>
              <a:t>StayZen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9144000" cy="10287000"/>
            <a:chOff x="0" y="0"/>
            <a:chExt cx="240829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08296" cy="2709333"/>
            </a:xfrm>
            <a:custGeom>
              <a:avLst/>
              <a:gdLst/>
              <a:ahLst/>
              <a:cxnLst/>
              <a:rect r="r" b="b" t="t" l="l"/>
              <a:pathLst>
                <a:path h="2709333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E74D61">
                <a:alpha val="90980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408296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321244" y="-1874821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9820387" y="2542051"/>
            <a:ext cx="6895406" cy="5202897"/>
          </a:xfrm>
          <a:custGeom>
            <a:avLst/>
            <a:gdLst/>
            <a:ahLst/>
            <a:cxnLst/>
            <a:rect r="r" b="b" t="t" l="l"/>
            <a:pathLst>
              <a:path h="5202897" w="6895406">
                <a:moveTo>
                  <a:pt x="0" y="0"/>
                </a:moveTo>
                <a:lnTo>
                  <a:pt x="6895406" y="0"/>
                </a:lnTo>
                <a:lnTo>
                  <a:pt x="6895406" y="5202898"/>
                </a:lnTo>
                <a:lnTo>
                  <a:pt x="0" y="52028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705710" y="2446801"/>
            <a:ext cx="7205552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500" b="true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Business Overview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705710" y="3431413"/>
            <a:ext cx="7940603" cy="56935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9" indent="-237490" lvl="1">
              <a:lnSpc>
                <a:spcPts val="3783"/>
              </a:lnSpc>
              <a:buFont typeface="Arial"/>
              <a:buChar char="•"/>
            </a:pPr>
            <a:r>
              <a:rPr lang="en-US" sz="2199" spc="8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The telecom industry is highly competitive, with customers having multiple alternatives.</a:t>
            </a:r>
          </a:p>
          <a:p>
            <a:pPr algn="l">
              <a:lnSpc>
                <a:spcPts val="3783"/>
              </a:lnSpc>
            </a:pPr>
          </a:p>
          <a:p>
            <a:pPr algn="l" marL="474979" indent="-237490" lvl="1">
              <a:lnSpc>
                <a:spcPts val="3783"/>
              </a:lnSpc>
              <a:buFont typeface="Arial"/>
              <a:buChar char="•"/>
            </a:pPr>
            <a:r>
              <a:rPr lang="en-US" sz="2199" spc="8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Customer retention is more cost-effective than acquiring new customers.</a:t>
            </a:r>
          </a:p>
          <a:p>
            <a:pPr algn="l">
              <a:lnSpc>
                <a:spcPts val="3783"/>
              </a:lnSpc>
            </a:pPr>
          </a:p>
          <a:p>
            <a:pPr algn="l" marL="474979" indent="-237490" lvl="1">
              <a:lnSpc>
                <a:spcPts val="3783"/>
              </a:lnSpc>
              <a:buFont typeface="Arial"/>
              <a:buChar char="•"/>
            </a:pPr>
            <a:r>
              <a:rPr lang="en-US" sz="2199" spc="8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Managing churn is essential to maintain stable revenue and improve long-term profitability.</a:t>
            </a:r>
          </a:p>
          <a:p>
            <a:pPr algn="l">
              <a:lnSpc>
                <a:spcPts val="3783"/>
              </a:lnSpc>
            </a:pPr>
          </a:p>
          <a:p>
            <a:pPr algn="l" marL="474979" indent="-237490" lvl="1">
              <a:lnSpc>
                <a:spcPts val="3783"/>
              </a:lnSpc>
              <a:buFont typeface="Arial"/>
              <a:buChar char="•"/>
            </a:pPr>
            <a:r>
              <a:rPr lang="en-US" sz="2199" spc="81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Our project focuses on understanding customer behavior and identifying factors leading to churn.</a:t>
            </a:r>
          </a:p>
          <a:p>
            <a:pPr algn="l">
              <a:lnSpc>
                <a:spcPts val="3783"/>
              </a:lnSpc>
            </a:pPr>
          </a:p>
        </p:txBody>
      </p:sp>
      <p:sp>
        <p:nvSpPr>
          <p:cNvPr name="Freeform 10" id="10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7200900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0">
            <a:off x="-518871" y="-512234"/>
            <a:ext cx="3761418" cy="3226984"/>
          </a:xfrm>
          <a:custGeom>
            <a:avLst/>
            <a:gdLst/>
            <a:ahLst/>
            <a:cxnLst/>
            <a:rect r="r" b="b" t="t" l="l"/>
            <a:pathLst>
              <a:path h="3226984" w="3761418">
                <a:moveTo>
                  <a:pt x="3761418" y="3226983"/>
                </a:moveTo>
                <a:lnTo>
                  <a:pt x="0" y="3226983"/>
                </a:lnTo>
                <a:lnTo>
                  <a:pt x="0" y="0"/>
                </a:lnTo>
                <a:lnTo>
                  <a:pt x="3761418" y="0"/>
                </a:lnTo>
                <a:lnTo>
                  <a:pt x="3761418" y="3226983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993132" y="3233721"/>
            <a:ext cx="714066" cy="3911617"/>
            <a:chOff x="0" y="0"/>
            <a:chExt cx="208979" cy="1144777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08979" cy="1144777"/>
            </a:xfrm>
            <a:custGeom>
              <a:avLst/>
              <a:gdLst/>
              <a:ahLst/>
              <a:cxnLst/>
              <a:rect r="r" b="b" t="t" l="l"/>
              <a:pathLst>
                <a:path h="1144777" w="208979">
                  <a:moveTo>
                    <a:pt x="104490" y="0"/>
                  </a:moveTo>
                  <a:lnTo>
                    <a:pt x="104490" y="0"/>
                  </a:lnTo>
                  <a:cubicBezTo>
                    <a:pt x="132202" y="0"/>
                    <a:pt x="158779" y="11009"/>
                    <a:pt x="178375" y="30604"/>
                  </a:cubicBezTo>
                  <a:cubicBezTo>
                    <a:pt x="197970" y="50200"/>
                    <a:pt x="208979" y="76777"/>
                    <a:pt x="208979" y="104490"/>
                  </a:cubicBezTo>
                  <a:lnTo>
                    <a:pt x="208979" y="1040287"/>
                  </a:lnTo>
                  <a:cubicBezTo>
                    <a:pt x="208979" y="1068000"/>
                    <a:pt x="197970" y="1094577"/>
                    <a:pt x="178375" y="1114173"/>
                  </a:cubicBezTo>
                  <a:cubicBezTo>
                    <a:pt x="158779" y="1133768"/>
                    <a:pt x="132202" y="1144777"/>
                    <a:pt x="104490" y="1144777"/>
                  </a:cubicBezTo>
                  <a:lnTo>
                    <a:pt x="104490" y="1144777"/>
                  </a:lnTo>
                  <a:cubicBezTo>
                    <a:pt x="46782" y="1144777"/>
                    <a:pt x="0" y="1097995"/>
                    <a:pt x="0" y="1040287"/>
                  </a:cubicBezTo>
                  <a:lnTo>
                    <a:pt x="0" y="104490"/>
                  </a:lnTo>
                  <a:cubicBezTo>
                    <a:pt x="0" y="46782"/>
                    <a:pt x="46782" y="0"/>
                    <a:pt x="104490" y="0"/>
                  </a:cubicBezTo>
                  <a:close/>
                </a:path>
              </a:pathLst>
            </a:custGeom>
            <a:solidFill>
              <a:srgbClr val="E74D61"/>
            </a:solidFill>
          </p:spPr>
        </p:sp>
        <p:sp>
          <p:nvSpPr>
            <p:cNvPr name="TextBox 6" id="6"/>
            <p:cNvSpPr txBox="true"/>
            <p:nvPr/>
          </p:nvSpPr>
          <p:spPr>
            <a:xfrm>
              <a:off x="0" y="-57150"/>
              <a:ext cx="208979" cy="12019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7" id="7"/>
          <p:cNvSpPr/>
          <p:nvPr/>
        </p:nvSpPr>
        <p:spPr>
          <a:xfrm flipH="false" flipV="false" rot="-2003265">
            <a:off x="14515281" y="7497770"/>
            <a:ext cx="5488037" cy="2860639"/>
          </a:xfrm>
          <a:custGeom>
            <a:avLst/>
            <a:gdLst/>
            <a:ahLst/>
            <a:cxnLst/>
            <a:rect r="r" b="b" t="t" l="l"/>
            <a:pathLst>
              <a:path h="2860639" w="5488037">
                <a:moveTo>
                  <a:pt x="0" y="0"/>
                </a:moveTo>
                <a:lnTo>
                  <a:pt x="5488038" y="0"/>
                </a:lnTo>
                <a:lnTo>
                  <a:pt x="5488038" y="2860639"/>
                </a:lnTo>
                <a:lnTo>
                  <a:pt x="0" y="286063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941423" y="3338012"/>
            <a:ext cx="3703035" cy="3703035"/>
          </a:xfrm>
          <a:custGeom>
            <a:avLst/>
            <a:gdLst/>
            <a:ahLst/>
            <a:cxnLst/>
            <a:rect r="r" b="b" t="t" l="l"/>
            <a:pathLst>
              <a:path h="3703035" w="3703035">
                <a:moveTo>
                  <a:pt x="0" y="0"/>
                </a:moveTo>
                <a:lnTo>
                  <a:pt x="3703035" y="0"/>
                </a:lnTo>
                <a:lnTo>
                  <a:pt x="3703035" y="3703035"/>
                </a:lnTo>
                <a:lnTo>
                  <a:pt x="0" y="370303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8115300" y="3290387"/>
            <a:ext cx="7205552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true">
                <a:solidFill>
                  <a:srgbClr val="E74D61"/>
                </a:solidFill>
                <a:latin typeface="Poppins Bold"/>
                <a:ea typeface="Poppins Bold"/>
                <a:cs typeface="Poppins Bold"/>
                <a:sym typeface="Poppins Bold"/>
              </a:rPr>
              <a:t>Business Problem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8115300" y="4263724"/>
            <a:ext cx="9144000" cy="41601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81" indent="-237491" lvl="1">
              <a:lnSpc>
                <a:spcPts val="4158"/>
              </a:lnSpc>
              <a:buFont typeface="Arial"/>
              <a:buChar char="•"/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company is experiencing a rising customer churn rate.</a:t>
            </a:r>
          </a:p>
          <a:p>
            <a:pPr algn="l" marL="474981" indent="-237491" lvl="1">
              <a:lnSpc>
                <a:spcPts val="4158"/>
              </a:lnSpc>
              <a:buFont typeface="Arial"/>
              <a:buChar char="•"/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Losing customers directly impacts revenue and market share.</a:t>
            </a:r>
          </a:p>
          <a:p>
            <a:pPr algn="l" marL="474981" indent="-237491" lvl="1">
              <a:lnSpc>
                <a:spcPts val="4158"/>
              </a:lnSpc>
              <a:buFont typeface="Arial"/>
              <a:buChar char="•"/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Key business question:</a:t>
            </a:r>
          </a:p>
          <a:p>
            <a:pPr algn="l">
              <a:lnSpc>
                <a:spcPts val="4158"/>
              </a:lnSpc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     </a:t>
            </a: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“Which customers are most likely to churn, and why?”</a:t>
            </a:r>
          </a:p>
          <a:p>
            <a:pPr algn="l" marL="474981" indent="-237491" lvl="1">
              <a:lnSpc>
                <a:spcPts val="4158"/>
              </a:lnSpc>
              <a:buFont typeface="Arial"/>
              <a:buChar char="•"/>
            </a:pPr>
            <a:r>
              <a:rPr lang="en-US" sz="2200" spc="2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Understanding churn drivers helps target customers with personalized retention strategies.</a:t>
            </a:r>
          </a:p>
          <a:p>
            <a:pPr algn="l">
              <a:lnSpc>
                <a:spcPts val="4158"/>
              </a:lnSpc>
            </a:pP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13822"/>
            <a:ext cx="9144000" cy="10287000"/>
            <a:chOff x="0" y="0"/>
            <a:chExt cx="2408296" cy="2709333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08296" cy="2709333"/>
            </a:xfrm>
            <a:custGeom>
              <a:avLst/>
              <a:gdLst/>
              <a:ahLst/>
              <a:cxnLst/>
              <a:rect r="r" b="b" t="t" l="l"/>
              <a:pathLst>
                <a:path h="2709333" w="2408296">
                  <a:moveTo>
                    <a:pt x="0" y="0"/>
                  </a:moveTo>
                  <a:lnTo>
                    <a:pt x="2408296" y="0"/>
                  </a:lnTo>
                  <a:lnTo>
                    <a:pt x="2408296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E74D61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57150"/>
              <a:ext cx="2408296" cy="276648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2535746" y="3584020"/>
            <a:ext cx="4779639" cy="4336436"/>
          </a:xfrm>
          <a:custGeom>
            <a:avLst/>
            <a:gdLst/>
            <a:ahLst/>
            <a:cxnLst/>
            <a:rect r="r" b="b" t="t" l="l"/>
            <a:pathLst>
              <a:path h="4336436" w="4779639">
                <a:moveTo>
                  <a:pt x="0" y="0"/>
                </a:moveTo>
                <a:lnTo>
                  <a:pt x="4779639" y="0"/>
                </a:lnTo>
                <a:lnTo>
                  <a:pt x="4779639" y="4336436"/>
                </a:lnTo>
                <a:lnTo>
                  <a:pt x="0" y="433643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9960637" y="1244600"/>
            <a:ext cx="778570" cy="849630"/>
          </a:xfrm>
          <a:custGeom>
            <a:avLst/>
            <a:gdLst/>
            <a:ahLst/>
            <a:cxnLst/>
            <a:rect r="r" b="b" t="t" l="l"/>
            <a:pathLst>
              <a:path h="849630" w="778570">
                <a:moveTo>
                  <a:pt x="0" y="0"/>
                </a:moveTo>
                <a:lnTo>
                  <a:pt x="778570" y="0"/>
                </a:lnTo>
                <a:lnTo>
                  <a:pt x="778570" y="849630"/>
                </a:lnTo>
                <a:lnTo>
                  <a:pt x="0" y="84963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9960637" y="3239281"/>
            <a:ext cx="778570" cy="587820"/>
          </a:xfrm>
          <a:custGeom>
            <a:avLst/>
            <a:gdLst/>
            <a:ahLst/>
            <a:cxnLst/>
            <a:rect r="r" b="b" t="t" l="l"/>
            <a:pathLst>
              <a:path h="587820" w="778570">
                <a:moveTo>
                  <a:pt x="0" y="0"/>
                </a:moveTo>
                <a:lnTo>
                  <a:pt x="778570" y="0"/>
                </a:lnTo>
                <a:lnTo>
                  <a:pt x="778570" y="587820"/>
                </a:lnTo>
                <a:lnTo>
                  <a:pt x="0" y="58782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9960637" y="4862209"/>
            <a:ext cx="778570" cy="778570"/>
          </a:xfrm>
          <a:custGeom>
            <a:avLst/>
            <a:gdLst/>
            <a:ahLst/>
            <a:cxnLst/>
            <a:rect r="r" b="b" t="t" l="l"/>
            <a:pathLst>
              <a:path h="778570" w="778570">
                <a:moveTo>
                  <a:pt x="0" y="0"/>
                </a:moveTo>
                <a:lnTo>
                  <a:pt x="778570" y="0"/>
                </a:lnTo>
                <a:lnTo>
                  <a:pt x="778570" y="778570"/>
                </a:lnTo>
                <a:lnTo>
                  <a:pt x="0" y="778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9960637" y="6698054"/>
            <a:ext cx="778570" cy="794459"/>
          </a:xfrm>
          <a:custGeom>
            <a:avLst/>
            <a:gdLst/>
            <a:ahLst/>
            <a:cxnLst/>
            <a:rect r="r" b="b" t="t" l="l"/>
            <a:pathLst>
              <a:path h="794459" w="778570">
                <a:moveTo>
                  <a:pt x="0" y="0"/>
                </a:moveTo>
                <a:lnTo>
                  <a:pt x="778570" y="0"/>
                </a:lnTo>
                <a:lnTo>
                  <a:pt x="778570" y="794459"/>
                </a:lnTo>
                <a:lnTo>
                  <a:pt x="0" y="79445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960637" y="8325411"/>
            <a:ext cx="778570" cy="802650"/>
          </a:xfrm>
          <a:custGeom>
            <a:avLst/>
            <a:gdLst/>
            <a:ahLst/>
            <a:cxnLst/>
            <a:rect r="r" b="b" t="t" l="l"/>
            <a:pathLst>
              <a:path h="802650" w="778570">
                <a:moveTo>
                  <a:pt x="0" y="0"/>
                </a:moveTo>
                <a:lnTo>
                  <a:pt x="778570" y="0"/>
                </a:lnTo>
                <a:lnTo>
                  <a:pt x="778570" y="802650"/>
                </a:lnTo>
                <a:lnTo>
                  <a:pt x="0" y="80265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2046989" y="1475105"/>
            <a:ext cx="3426719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b="true" sz="3500">
                <a:solidFill>
                  <a:srgbClr val="1D1D1B"/>
                </a:solidFill>
                <a:latin typeface="Poppins Bold"/>
                <a:ea typeface="Poppins Bold"/>
                <a:cs typeface="Poppins Bold"/>
                <a:sym typeface="Poppins Bold"/>
              </a:rPr>
              <a:t>Our Solution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237629" y="1187450"/>
            <a:ext cx="5704841" cy="1118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Conduct in-depth Exploratory Data Analysis (EDA) to understand customer behavior.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1237629" y="3182131"/>
            <a:ext cx="5704841" cy="746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Create an interactive dashboard for business teams to monitor churn.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237629" y="4805059"/>
            <a:ext cx="5704841" cy="746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Build a predictive model to identify customers at high risk of churn.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314682" y="6640904"/>
            <a:ext cx="5704841" cy="746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Develop a Streamlit app to provide real-time churn predictions.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1336274" y="8268261"/>
            <a:ext cx="5704841" cy="746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53390" indent="-226695" lvl="1">
              <a:lnSpc>
                <a:spcPts val="2940"/>
              </a:lnSpc>
              <a:buFont typeface="Arial"/>
              <a:buChar char="•"/>
            </a:pPr>
            <a:r>
              <a:rPr lang="en-US" sz="21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Translate findings into clear business recommendations.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1573131" y="3603147"/>
            <a:ext cx="5686169" cy="5655153"/>
          </a:xfrm>
          <a:custGeom>
            <a:avLst/>
            <a:gdLst/>
            <a:ahLst/>
            <a:cxnLst/>
            <a:rect r="r" b="b" t="t" l="l"/>
            <a:pathLst>
              <a:path h="5655153" w="5686169">
                <a:moveTo>
                  <a:pt x="0" y="0"/>
                </a:moveTo>
                <a:lnTo>
                  <a:pt x="5686169" y="0"/>
                </a:lnTo>
                <a:lnTo>
                  <a:pt x="5686169" y="5655153"/>
                </a:lnTo>
                <a:lnTo>
                  <a:pt x="0" y="565515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228160" y="5817821"/>
            <a:ext cx="3167364" cy="3167364"/>
          </a:xfrm>
          <a:custGeom>
            <a:avLst/>
            <a:gdLst/>
            <a:ahLst/>
            <a:cxnLst/>
            <a:rect r="r" b="b" t="t" l="l"/>
            <a:pathLst>
              <a:path h="3167364" w="3167364">
                <a:moveTo>
                  <a:pt x="0" y="0"/>
                </a:moveTo>
                <a:lnTo>
                  <a:pt x="3167365" y="0"/>
                </a:lnTo>
                <a:lnTo>
                  <a:pt x="3167365" y="3167365"/>
                </a:lnTo>
                <a:lnTo>
                  <a:pt x="0" y="316736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046989" y="3565047"/>
            <a:ext cx="8478305" cy="1314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Let’s review the dataset to understand the key features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792093" y="7779404"/>
            <a:ext cx="3630546" cy="4039550"/>
          </a:xfrm>
          <a:custGeom>
            <a:avLst/>
            <a:gdLst/>
            <a:ahLst/>
            <a:cxnLst/>
            <a:rect r="r" b="b" t="t" l="l"/>
            <a:pathLst>
              <a:path h="4039550" w="3630546">
                <a:moveTo>
                  <a:pt x="3630545" y="4039550"/>
                </a:moveTo>
                <a:lnTo>
                  <a:pt x="0" y="4039550"/>
                </a:lnTo>
                <a:lnTo>
                  <a:pt x="0" y="0"/>
                </a:lnTo>
                <a:lnTo>
                  <a:pt x="3630545" y="0"/>
                </a:lnTo>
                <a:lnTo>
                  <a:pt x="3630545" y="403955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5397852" y="-1381197"/>
            <a:ext cx="4059190" cy="3482447"/>
          </a:xfrm>
          <a:custGeom>
            <a:avLst/>
            <a:gdLst/>
            <a:ahLst/>
            <a:cxnLst/>
            <a:rect r="r" b="b" t="t" l="l"/>
            <a:pathLst>
              <a:path h="3482447" w="4059190">
                <a:moveTo>
                  <a:pt x="0" y="0"/>
                </a:moveTo>
                <a:lnTo>
                  <a:pt x="4059191" y="0"/>
                </a:lnTo>
                <a:lnTo>
                  <a:pt x="4059191" y="3482447"/>
                </a:lnTo>
                <a:lnTo>
                  <a:pt x="0" y="348244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422277" y="6822295"/>
            <a:ext cx="3502249" cy="2967360"/>
          </a:xfrm>
          <a:custGeom>
            <a:avLst/>
            <a:gdLst/>
            <a:ahLst/>
            <a:cxnLst/>
            <a:rect r="r" b="b" t="t" l="l"/>
            <a:pathLst>
              <a:path h="2967360" w="3502249">
                <a:moveTo>
                  <a:pt x="0" y="0"/>
                </a:moveTo>
                <a:lnTo>
                  <a:pt x="3502249" y="0"/>
                </a:lnTo>
                <a:lnTo>
                  <a:pt x="3502249" y="2967359"/>
                </a:lnTo>
                <a:lnTo>
                  <a:pt x="0" y="296735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46989" y="1263650"/>
            <a:ext cx="4325390" cy="581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20"/>
              </a:lnSpc>
            </a:pPr>
            <a:r>
              <a:rPr lang="en-US" sz="3600" b="true">
                <a:solidFill>
                  <a:srgbClr val="E74D61"/>
                </a:solidFill>
                <a:latin typeface="Poppins Bold"/>
                <a:ea typeface="Poppins Bold"/>
                <a:cs typeface="Poppins Bold"/>
                <a:sym typeface="Poppins Bold"/>
              </a:rPr>
              <a:t>Data</a:t>
            </a:r>
            <a:r>
              <a:rPr lang="en-US" b="true" sz="3600">
                <a:solidFill>
                  <a:srgbClr val="E74D61"/>
                </a:solidFill>
                <a:latin typeface="Poppins Bold"/>
                <a:ea typeface="Poppins Bold"/>
                <a:cs typeface="Poppins Bold"/>
                <a:sym typeface="Poppins Bold"/>
              </a:rPr>
              <a:t>set Overview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2046989" y="2277246"/>
            <a:ext cx="4373612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Total customers: </a:t>
            </a:r>
            <a:r>
              <a:rPr lang="en-US" b="true" sz="24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440,832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574263" y="2277246"/>
            <a:ext cx="3127653" cy="4248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518160" indent="-259080" lvl="1">
              <a:lnSpc>
                <a:spcPts val="3359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Total Features: </a:t>
            </a:r>
            <a:r>
              <a:rPr lang="en-US" b="true" sz="2400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10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12189678" y="3413125"/>
            <a:ext cx="3584596" cy="3037130"/>
          </a:xfrm>
          <a:custGeom>
            <a:avLst/>
            <a:gdLst/>
            <a:ahLst/>
            <a:cxnLst/>
            <a:rect r="r" b="b" t="t" l="l"/>
            <a:pathLst>
              <a:path h="3037130" w="3584596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2339930" y="3413125"/>
            <a:ext cx="3584596" cy="3037130"/>
          </a:xfrm>
          <a:custGeom>
            <a:avLst/>
            <a:gdLst/>
            <a:ahLst/>
            <a:cxnLst/>
            <a:rect r="r" b="b" t="t" l="l"/>
            <a:pathLst>
              <a:path h="3037130" w="3584596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2462311" y="3857525"/>
            <a:ext cx="3231370" cy="35325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48"/>
              </a:lnSpc>
            </a:pPr>
            <a:r>
              <a:rPr lang="en-US" sz="196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Cust</a:t>
            </a:r>
            <a:r>
              <a:rPr lang="en-US" sz="1963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omer Information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2422277" y="4662942"/>
            <a:ext cx="1966390" cy="640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Gender 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Age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7435169" y="3413125"/>
            <a:ext cx="3584596" cy="3037130"/>
          </a:xfrm>
          <a:custGeom>
            <a:avLst/>
            <a:gdLst/>
            <a:ahLst/>
            <a:cxnLst/>
            <a:rect r="r" b="b" t="t" l="l"/>
            <a:pathLst>
              <a:path h="3037130" w="3584596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7435169" y="3562014"/>
            <a:ext cx="3584596" cy="778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Account &amp; Contract Details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599826" y="4448083"/>
            <a:ext cx="2925970" cy="1268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CustomerID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Subscription Type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Contract Length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Tenure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2189678" y="3562014"/>
            <a:ext cx="3310169" cy="395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Service Usage Behavior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356011" y="4662942"/>
            <a:ext cx="2372618" cy="640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Usage Frequency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Last Interaction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2529577" y="7150347"/>
            <a:ext cx="3096839" cy="395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Billing &amp; Payment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2529577" y="7965288"/>
            <a:ext cx="2114848" cy="6400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Total Spend</a:t>
            </a:r>
          </a:p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Payment Delay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7435169" y="6822295"/>
            <a:ext cx="3584596" cy="3037130"/>
          </a:xfrm>
          <a:custGeom>
            <a:avLst/>
            <a:gdLst/>
            <a:ahLst/>
            <a:cxnLst/>
            <a:rect r="r" b="b" t="t" l="l"/>
            <a:pathLst>
              <a:path h="3037130" w="3584596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7435169" y="7150347"/>
            <a:ext cx="3584596" cy="7785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Cust</a:t>
            </a: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omer Support Interaction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599826" y="8165084"/>
            <a:ext cx="2925970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Support Calls</a:t>
            </a:r>
          </a:p>
        </p:txBody>
      </p:sp>
      <p:sp>
        <p:nvSpPr>
          <p:cNvPr name="Freeform 23" id="23"/>
          <p:cNvSpPr/>
          <p:nvPr/>
        </p:nvSpPr>
        <p:spPr>
          <a:xfrm flipH="false" flipV="false" rot="0">
            <a:off x="12356011" y="6833639"/>
            <a:ext cx="3584596" cy="3037130"/>
          </a:xfrm>
          <a:custGeom>
            <a:avLst/>
            <a:gdLst/>
            <a:ahLst/>
            <a:cxnLst/>
            <a:rect r="r" b="b" t="t" l="l"/>
            <a:pathLst>
              <a:path h="3037130" w="3584596">
                <a:moveTo>
                  <a:pt x="0" y="0"/>
                </a:moveTo>
                <a:lnTo>
                  <a:pt x="3584596" y="0"/>
                </a:lnTo>
                <a:lnTo>
                  <a:pt x="3584596" y="3037130"/>
                </a:lnTo>
                <a:lnTo>
                  <a:pt x="0" y="30371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4" id="24"/>
          <p:cNvSpPr txBox="true"/>
          <p:nvPr/>
        </p:nvSpPr>
        <p:spPr>
          <a:xfrm rot="0">
            <a:off x="12356011" y="7150347"/>
            <a:ext cx="3584596" cy="395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023"/>
              </a:lnSpc>
              <a:spcBef>
                <a:spcPct val="0"/>
              </a:spcBef>
            </a:pP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Ta</a:t>
            </a:r>
            <a:r>
              <a:rPr lang="en-US" sz="215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rget Variable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2534597" y="8092666"/>
            <a:ext cx="2925970" cy="3257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E74D61"/>
                </a:solidFill>
                <a:latin typeface="Poppins"/>
                <a:ea typeface="Poppins"/>
                <a:cs typeface="Poppins"/>
                <a:sym typeface="Poppins"/>
              </a:rPr>
              <a:t>Churn (Yes/No)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003265">
            <a:off x="14515281" y="7554866"/>
            <a:ext cx="5488037" cy="2860639"/>
          </a:xfrm>
          <a:custGeom>
            <a:avLst/>
            <a:gdLst/>
            <a:ahLst/>
            <a:cxnLst/>
            <a:rect r="r" b="b" t="t" l="l"/>
            <a:pathLst>
              <a:path h="2860639" w="5488037">
                <a:moveTo>
                  <a:pt x="0" y="0"/>
                </a:moveTo>
                <a:lnTo>
                  <a:pt x="5488038" y="0"/>
                </a:lnTo>
                <a:lnTo>
                  <a:pt x="5488038" y="2860639"/>
                </a:lnTo>
                <a:lnTo>
                  <a:pt x="0" y="286063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606869" y="2972555"/>
            <a:ext cx="580149" cy="580149"/>
          </a:xfrm>
          <a:custGeom>
            <a:avLst/>
            <a:gdLst/>
            <a:ahLst/>
            <a:cxnLst/>
            <a:rect r="r" b="b" t="t" l="l"/>
            <a:pathLst>
              <a:path h="580149" w="580149">
                <a:moveTo>
                  <a:pt x="0" y="0"/>
                </a:moveTo>
                <a:lnTo>
                  <a:pt x="580149" y="0"/>
                </a:lnTo>
                <a:lnTo>
                  <a:pt x="580149" y="580150"/>
                </a:lnTo>
                <a:lnTo>
                  <a:pt x="0" y="58015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2606869" y="4185481"/>
            <a:ext cx="580149" cy="580149"/>
          </a:xfrm>
          <a:custGeom>
            <a:avLst/>
            <a:gdLst/>
            <a:ahLst/>
            <a:cxnLst/>
            <a:rect r="r" b="b" t="t" l="l"/>
            <a:pathLst>
              <a:path h="580149" w="580149">
                <a:moveTo>
                  <a:pt x="0" y="0"/>
                </a:moveTo>
                <a:lnTo>
                  <a:pt x="580149" y="0"/>
                </a:lnTo>
                <a:lnTo>
                  <a:pt x="580149" y="580149"/>
                </a:lnTo>
                <a:lnTo>
                  <a:pt x="0" y="58014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2606869" y="5398406"/>
            <a:ext cx="580149" cy="580149"/>
          </a:xfrm>
          <a:custGeom>
            <a:avLst/>
            <a:gdLst/>
            <a:ahLst/>
            <a:cxnLst/>
            <a:rect r="r" b="b" t="t" l="l"/>
            <a:pathLst>
              <a:path h="580149" w="580149">
                <a:moveTo>
                  <a:pt x="0" y="0"/>
                </a:moveTo>
                <a:lnTo>
                  <a:pt x="580149" y="0"/>
                </a:lnTo>
                <a:lnTo>
                  <a:pt x="580149" y="580149"/>
                </a:lnTo>
                <a:lnTo>
                  <a:pt x="0" y="5801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606869" y="6611331"/>
            <a:ext cx="580149" cy="580149"/>
          </a:xfrm>
          <a:custGeom>
            <a:avLst/>
            <a:gdLst/>
            <a:ahLst/>
            <a:cxnLst/>
            <a:rect r="r" b="b" t="t" l="l"/>
            <a:pathLst>
              <a:path h="580149" w="580149">
                <a:moveTo>
                  <a:pt x="0" y="0"/>
                </a:moveTo>
                <a:lnTo>
                  <a:pt x="580149" y="0"/>
                </a:lnTo>
                <a:lnTo>
                  <a:pt x="580149" y="580149"/>
                </a:lnTo>
                <a:lnTo>
                  <a:pt x="0" y="580149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2606869" y="7824256"/>
            <a:ext cx="580149" cy="580149"/>
          </a:xfrm>
          <a:custGeom>
            <a:avLst/>
            <a:gdLst/>
            <a:ahLst/>
            <a:cxnLst/>
            <a:rect r="r" b="b" t="t" l="l"/>
            <a:pathLst>
              <a:path h="580149" w="580149">
                <a:moveTo>
                  <a:pt x="0" y="0"/>
                </a:moveTo>
                <a:lnTo>
                  <a:pt x="580149" y="0"/>
                </a:lnTo>
                <a:lnTo>
                  <a:pt x="580149" y="580150"/>
                </a:lnTo>
                <a:lnTo>
                  <a:pt x="0" y="58015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2159639" y="3965899"/>
            <a:ext cx="4438507" cy="4438507"/>
          </a:xfrm>
          <a:custGeom>
            <a:avLst/>
            <a:gdLst/>
            <a:ahLst/>
            <a:cxnLst/>
            <a:rect r="r" b="b" t="t" l="l"/>
            <a:pathLst>
              <a:path h="4438507" w="4438507">
                <a:moveTo>
                  <a:pt x="0" y="0"/>
                </a:moveTo>
                <a:lnTo>
                  <a:pt x="4438507" y="0"/>
                </a:lnTo>
                <a:lnTo>
                  <a:pt x="4438507" y="4438507"/>
                </a:lnTo>
                <a:lnTo>
                  <a:pt x="0" y="443850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2694108" y="6662958"/>
            <a:ext cx="405672" cy="457106"/>
            <a:chOff x="0" y="0"/>
            <a:chExt cx="812800" cy="91585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915853"/>
            </a:xfrm>
            <a:custGeom>
              <a:avLst/>
              <a:gdLst/>
              <a:ahLst/>
              <a:cxnLst/>
              <a:rect r="r" b="b" t="t" l="l"/>
              <a:pathLst>
                <a:path h="915853" w="812800">
                  <a:moveTo>
                    <a:pt x="406400" y="0"/>
                  </a:moveTo>
                  <a:cubicBezTo>
                    <a:pt x="181951" y="0"/>
                    <a:pt x="0" y="205021"/>
                    <a:pt x="0" y="457927"/>
                  </a:cubicBezTo>
                  <a:cubicBezTo>
                    <a:pt x="0" y="710833"/>
                    <a:pt x="181951" y="915853"/>
                    <a:pt x="406400" y="915853"/>
                  </a:cubicBezTo>
                  <a:cubicBezTo>
                    <a:pt x="630849" y="915853"/>
                    <a:pt x="812800" y="710833"/>
                    <a:pt x="812800" y="457927"/>
                  </a:cubicBezTo>
                  <a:cubicBezTo>
                    <a:pt x="812800" y="20502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57286"/>
              <a:ext cx="660400" cy="7727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  <a:r>
                <a:rPr lang="en-US" b="true" sz="1200">
                  <a:solidFill>
                    <a:srgbClr val="E74D61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4</a:t>
              </a: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2606869" y="1620005"/>
            <a:ext cx="5104705" cy="5905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75"/>
              </a:lnSpc>
            </a:pPr>
            <a:r>
              <a:rPr lang="en-US" b="true" sz="3729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EDA – Key Findings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477385" y="2915405"/>
            <a:ext cx="6337418" cy="782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High Churn Rate: The overall number of customers who churned is significant.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458335" y="4128331"/>
            <a:ext cx="6337418" cy="782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Gender: Female customers show a slightly higher churn rate.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3458335" y="5316371"/>
            <a:ext cx="6728773" cy="782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Subscription Type: Customers with monthly subscriptions are more likely to churn.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3458335" y="6554181"/>
            <a:ext cx="6337418" cy="782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Support Calls: Customers with more than 5 support calls tend to churn.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3458335" y="7735547"/>
            <a:ext cx="6728773" cy="782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79"/>
              </a:lnSpc>
            </a:pPr>
            <a:r>
              <a:rPr lang="en-US" sz="21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Payment Delays: Customers with payment delays over 15 days are at higher risk of leaving.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2694108" y="7885778"/>
            <a:ext cx="405672" cy="457106"/>
            <a:chOff x="0" y="0"/>
            <a:chExt cx="812800" cy="915853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915853"/>
            </a:xfrm>
            <a:custGeom>
              <a:avLst/>
              <a:gdLst/>
              <a:ahLst/>
              <a:cxnLst/>
              <a:rect r="r" b="b" t="t" l="l"/>
              <a:pathLst>
                <a:path h="915853" w="812800">
                  <a:moveTo>
                    <a:pt x="406400" y="0"/>
                  </a:moveTo>
                  <a:cubicBezTo>
                    <a:pt x="181951" y="0"/>
                    <a:pt x="0" y="205021"/>
                    <a:pt x="0" y="457927"/>
                  </a:cubicBezTo>
                  <a:cubicBezTo>
                    <a:pt x="0" y="710833"/>
                    <a:pt x="181951" y="915853"/>
                    <a:pt x="406400" y="915853"/>
                  </a:cubicBezTo>
                  <a:cubicBezTo>
                    <a:pt x="630849" y="915853"/>
                    <a:pt x="812800" y="710833"/>
                    <a:pt x="812800" y="457927"/>
                  </a:cubicBezTo>
                  <a:cubicBezTo>
                    <a:pt x="812800" y="20502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76200" y="57286"/>
              <a:ext cx="660400" cy="77270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679"/>
                </a:lnSpc>
              </a:pPr>
              <a:r>
                <a:rPr lang="en-US" b="true" sz="1200">
                  <a:solidFill>
                    <a:srgbClr val="E74D61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0">
            <a:off x="9705504" y="3488648"/>
            <a:ext cx="7092747" cy="4997401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230832" y="3441023"/>
            <a:ext cx="7913168" cy="1495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lang="en-US" sz="480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ext, let’s take a look at our findings.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8531256" y="2233366"/>
            <a:ext cx="9608275" cy="5058679"/>
          </a:xfrm>
          <a:custGeom>
            <a:avLst/>
            <a:gdLst/>
            <a:ahLst/>
            <a:cxnLst/>
            <a:rect r="r" b="b" t="t" l="l"/>
            <a:pathLst>
              <a:path h="5058679" w="9608275">
                <a:moveTo>
                  <a:pt x="0" y="0"/>
                </a:moveTo>
                <a:lnTo>
                  <a:pt x="9608274" y="0"/>
                </a:lnTo>
                <a:lnTo>
                  <a:pt x="9608274" y="5058678"/>
                </a:lnTo>
                <a:lnTo>
                  <a:pt x="0" y="50586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1991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230832" y="3857830"/>
            <a:ext cx="7913168" cy="13464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8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Our data shows a churn rate of 56.7%, which is exceptionally high and indicates a significant risk of losing more than half of our customer base.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938245" y="4702572"/>
            <a:ext cx="10411510" cy="4282614"/>
          </a:xfrm>
          <a:custGeom>
            <a:avLst/>
            <a:gdLst/>
            <a:ahLst/>
            <a:cxnLst/>
            <a:rect r="r" b="b" t="t" l="l"/>
            <a:pathLst>
              <a:path h="4282614" w="10411510">
                <a:moveTo>
                  <a:pt x="0" y="0"/>
                </a:moveTo>
                <a:lnTo>
                  <a:pt x="10411510" y="0"/>
                </a:lnTo>
                <a:lnTo>
                  <a:pt x="10411510" y="4282614"/>
                </a:lnTo>
                <a:lnTo>
                  <a:pt x="0" y="42826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178622" y="1746250"/>
            <a:ext cx="13930757" cy="20924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Contract Length</a:t>
            </a:r>
          </a:p>
          <a:p>
            <a:pPr algn="l">
              <a:lnSpc>
                <a:spcPts val="5759"/>
              </a:lnSpc>
            </a:pPr>
          </a:p>
          <a:p>
            <a:pPr algn="l">
              <a:lnSpc>
                <a:spcPts val="3528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Our data shows that nearly all customers on a monthly contract type churned, while those on quarterly or annual contracts churned at a 46% rate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644679" y="4697998"/>
            <a:ext cx="10998643" cy="4560302"/>
          </a:xfrm>
          <a:custGeom>
            <a:avLst/>
            <a:gdLst/>
            <a:ahLst/>
            <a:cxnLst/>
            <a:rect r="r" b="b" t="t" l="l"/>
            <a:pathLst>
              <a:path h="4560302" w="10998643">
                <a:moveTo>
                  <a:pt x="0" y="0"/>
                </a:moveTo>
                <a:lnTo>
                  <a:pt x="10998642" y="0"/>
                </a:lnTo>
                <a:lnTo>
                  <a:pt x="10998642" y="4560302"/>
                </a:lnTo>
                <a:lnTo>
                  <a:pt x="0" y="45603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870" t="0" r="0" b="-1477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2261120" y="1536700"/>
            <a:ext cx="14387770" cy="210235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Support Calls</a:t>
            </a:r>
          </a:p>
          <a:p>
            <a:pPr algn="l">
              <a:lnSpc>
                <a:spcPts val="5759"/>
              </a:lnSpc>
            </a:pPr>
          </a:p>
          <a:p>
            <a:pPr algn="l">
              <a:lnSpc>
                <a:spcPts val="3672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All customers who recorded more than five support calls ended up churning, with no exceptions — highlighting a critical dissatisfaction pattern among high-contact users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3465291" y="4718109"/>
            <a:ext cx="11357419" cy="4540191"/>
          </a:xfrm>
          <a:custGeom>
            <a:avLst/>
            <a:gdLst/>
            <a:ahLst/>
            <a:cxnLst/>
            <a:rect r="r" b="b" t="t" l="l"/>
            <a:pathLst>
              <a:path h="4540191" w="11357419">
                <a:moveTo>
                  <a:pt x="0" y="0"/>
                </a:moveTo>
                <a:lnTo>
                  <a:pt x="11357418" y="0"/>
                </a:lnTo>
                <a:lnTo>
                  <a:pt x="11357418" y="4540191"/>
                </a:lnTo>
                <a:lnTo>
                  <a:pt x="0" y="454019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936545" y="1759471"/>
            <a:ext cx="15014106" cy="2119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Total Spend</a:t>
            </a:r>
          </a:p>
          <a:p>
            <a:pPr algn="l">
              <a:lnSpc>
                <a:spcPts val="2879"/>
              </a:lnSpc>
            </a:pPr>
          </a:p>
          <a:p>
            <a:pPr algn="l">
              <a:lnSpc>
                <a:spcPts val="2879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➡ </a:t>
            </a: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Revenue Churn rate : 48.6</a:t>
            </a: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All customers whose total spend was below $500 ended up churning, which suggests that low-value customers were far more likely to discontinue the service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9447943" y="3170549"/>
            <a:ext cx="7811357" cy="3945903"/>
          </a:xfrm>
          <a:custGeom>
            <a:avLst/>
            <a:gdLst/>
            <a:ahLst/>
            <a:cxnLst/>
            <a:rect r="r" b="b" t="t" l="l"/>
            <a:pathLst>
              <a:path h="3945903" w="7811357">
                <a:moveTo>
                  <a:pt x="0" y="0"/>
                </a:moveTo>
                <a:lnTo>
                  <a:pt x="7811357" y="0"/>
                </a:lnTo>
                <a:lnTo>
                  <a:pt x="7811357" y="3945902"/>
                </a:lnTo>
                <a:lnTo>
                  <a:pt x="0" y="394590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044" t="0" r="-5871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705710" y="3552825"/>
            <a:ext cx="7915651" cy="30533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Payment delay</a:t>
            </a:r>
          </a:p>
          <a:p>
            <a:pPr algn="l">
              <a:lnSpc>
                <a:spcPts val="5759"/>
              </a:lnSpc>
            </a:pPr>
          </a:p>
          <a:p>
            <a:pPr algn="l">
              <a:lnSpc>
                <a:spcPts val="3696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Every customer who delayed payment by more than 20 days ended up churning — a clear indication that late payment is strongly associated with customer attrition.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0" y="5391760"/>
            <a:ext cx="18288000" cy="4895240"/>
          </a:xfrm>
          <a:custGeom>
            <a:avLst/>
            <a:gdLst/>
            <a:ahLst/>
            <a:cxnLst/>
            <a:rect r="r" b="b" t="t" l="l"/>
            <a:pathLst>
              <a:path h="4895240" w="18288000">
                <a:moveTo>
                  <a:pt x="0" y="0"/>
                </a:moveTo>
                <a:lnTo>
                  <a:pt x="18288000" y="0"/>
                </a:lnTo>
                <a:lnTo>
                  <a:pt x="18288000" y="4895240"/>
                </a:lnTo>
                <a:lnTo>
                  <a:pt x="0" y="489524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-742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541253" y="2828925"/>
            <a:ext cx="15205494" cy="2105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Age</a:t>
            </a:r>
          </a:p>
          <a:p>
            <a:pPr algn="l">
              <a:lnSpc>
                <a:spcPts val="5759"/>
              </a:lnSpc>
            </a:pPr>
          </a:p>
          <a:p>
            <a:pPr algn="l">
              <a:lnSpc>
                <a:spcPts val="3624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all customers over 50 years old churned, customers aged 40–50 had a lower churn rate, while churn was somewhat high among customers aged between 18 and 20.”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165518" y="5223126"/>
            <a:ext cx="9956964" cy="4035174"/>
          </a:xfrm>
          <a:custGeom>
            <a:avLst/>
            <a:gdLst/>
            <a:ahLst/>
            <a:cxnLst/>
            <a:rect r="r" b="b" t="t" l="l"/>
            <a:pathLst>
              <a:path h="4035174" w="9956964">
                <a:moveTo>
                  <a:pt x="0" y="0"/>
                </a:moveTo>
                <a:lnTo>
                  <a:pt x="9956964" y="0"/>
                </a:lnTo>
                <a:lnTo>
                  <a:pt x="9956964" y="4035174"/>
                </a:lnTo>
                <a:lnTo>
                  <a:pt x="0" y="403517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402" t="0" r="-2162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822727" y="2003907"/>
            <a:ext cx="14642547" cy="21069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Gender</a:t>
            </a:r>
          </a:p>
          <a:p>
            <a:pPr algn="l">
              <a:lnSpc>
                <a:spcPts val="5759"/>
              </a:lnSpc>
            </a:pPr>
          </a:p>
          <a:p>
            <a:pPr algn="l">
              <a:lnSpc>
                <a:spcPts val="3600"/>
              </a:lnSpc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Two-third of female customers churned, while less than half of male customers did. Overall, the proportion of male participants in our dataset is higher than that of females.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798252" y="-27495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pic>
        <p:nvPicPr>
          <p:cNvPr name="Picture 6" id="6"/>
          <p:cNvPicPr>
            <a:picLocks noChangeAspect="true"/>
          </p:cNvPicPr>
          <p:nvPr/>
        </p:nvPicPr>
        <p:blipFill>
          <a:blip r:embed="rId6"/>
          <a:srcRect l="0" t="0" r="0" b="0"/>
          <a:stretch>
            <a:fillRect/>
          </a:stretch>
        </p:blipFill>
        <p:spPr>
          <a:xfrm flipH="false" flipV="false" rot="0">
            <a:off x="9705504" y="3488648"/>
            <a:ext cx="7092747" cy="4997401"/>
          </a:xfrm>
          <a:prstGeom prst="rect">
            <a:avLst/>
          </a:prstGeom>
        </p:spPr>
      </p:pic>
      <p:sp>
        <p:nvSpPr>
          <p:cNvPr name="TextBox 7" id="7"/>
          <p:cNvSpPr txBox="true"/>
          <p:nvPr/>
        </p:nvSpPr>
        <p:spPr>
          <a:xfrm rot="0">
            <a:off x="1230832" y="3441023"/>
            <a:ext cx="7913168" cy="1495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59"/>
              </a:lnSpc>
            </a:pPr>
            <a:r>
              <a:rPr lang="en-US" sz="480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N</a:t>
            </a:r>
            <a:r>
              <a:rPr lang="en-US" sz="4800">
                <a:solidFill>
                  <a:srgbClr val="DD5768"/>
                </a:solidFill>
                <a:latin typeface="Poppins"/>
                <a:ea typeface="Poppins"/>
                <a:cs typeface="Poppins"/>
                <a:sym typeface="Poppins"/>
              </a:rPr>
              <a:t>ext, let’s take a look at our Dashboard.</a:t>
            </a:r>
          </a:p>
        </p:txBody>
      </p:sp>
      <p:sp>
        <p:nvSpPr>
          <p:cNvPr name="Freeform 8" id="8"/>
          <p:cNvSpPr/>
          <p:nvPr/>
        </p:nvSpPr>
        <p:spPr>
          <a:xfrm flipH="false" flipV="false" rot="0">
            <a:off x="16950652" y="-25971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7103052" y="-24447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7" y="0"/>
                </a:lnTo>
                <a:lnTo>
                  <a:pt x="2682557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92131" y="0"/>
            <a:ext cx="15815555" cy="10287000"/>
          </a:xfrm>
          <a:custGeom>
            <a:avLst/>
            <a:gdLst/>
            <a:ahLst/>
            <a:cxnLst/>
            <a:rect r="r" b="b" t="t" l="l"/>
            <a:pathLst>
              <a:path h="10287000" w="15815555">
                <a:moveTo>
                  <a:pt x="0" y="0"/>
                </a:moveTo>
                <a:lnTo>
                  <a:pt x="15815554" y="0"/>
                </a:lnTo>
                <a:lnTo>
                  <a:pt x="15815554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06" t="-1307" r="-980" b="-2461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15525" y="0"/>
            <a:ext cx="16043775" cy="10487078"/>
          </a:xfrm>
          <a:custGeom>
            <a:avLst/>
            <a:gdLst/>
            <a:ahLst/>
            <a:cxnLst/>
            <a:rect r="r" b="b" t="t" l="l"/>
            <a:pathLst>
              <a:path h="10487078" w="16043775">
                <a:moveTo>
                  <a:pt x="0" y="0"/>
                </a:moveTo>
                <a:lnTo>
                  <a:pt x="16043775" y="0"/>
                </a:lnTo>
                <a:lnTo>
                  <a:pt x="16043775" y="10487078"/>
                </a:lnTo>
                <a:lnTo>
                  <a:pt x="0" y="1048707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867" r="0" b="-867"/>
            </a:stretch>
          </a:blipFill>
        </p:spPr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BFB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261403" y="0"/>
            <a:ext cx="15997897" cy="10287000"/>
          </a:xfrm>
          <a:custGeom>
            <a:avLst/>
            <a:gdLst/>
            <a:ahLst/>
            <a:cxnLst/>
            <a:rect r="r" b="b" t="t" l="l"/>
            <a:pathLst>
              <a:path h="10287000" w="15997897">
                <a:moveTo>
                  <a:pt x="0" y="0"/>
                </a:moveTo>
                <a:lnTo>
                  <a:pt x="15997897" y="0"/>
                </a:lnTo>
                <a:lnTo>
                  <a:pt x="15997897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454" t="-2559" r="0" b="-2559"/>
            </a:stretch>
          </a:blipFill>
        </p:spPr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3629880" y="6596382"/>
            <a:ext cx="3629420" cy="2632979"/>
          </a:xfrm>
          <a:custGeom>
            <a:avLst/>
            <a:gdLst/>
            <a:ahLst/>
            <a:cxnLst/>
            <a:rect r="r" b="b" t="t" l="l"/>
            <a:pathLst>
              <a:path h="2632979" w="3629420">
                <a:moveTo>
                  <a:pt x="0" y="0"/>
                </a:moveTo>
                <a:lnTo>
                  <a:pt x="3629420" y="0"/>
                </a:lnTo>
                <a:lnTo>
                  <a:pt x="3629420" y="2632979"/>
                </a:lnTo>
                <a:lnTo>
                  <a:pt x="0" y="263297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2574122" y="1558354"/>
            <a:ext cx="10564217" cy="571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00"/>
              </a:lnSpc>
            </a:pPr>
            <a:r>
              <a:rPr lang="en-US" sz="35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</a:t>
            </a:r>
            <a:r>
              <a:rPr lang="en-US" sz="35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redictive Models for Customer Churn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04170" y="3950737"/>
            <a:ext cx="9691892" cy="782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81" indent="-237491" lvl="1">
              <a:lnSpc>
                <a:spcPts val="3080"/>
              </a:lnSpc>
              <a:buFont typeface="Arial"/>
              <a:buChar char="•"/>
            </a:pPr>
            <a:r>
              <a:rPr lang="en-US" sz="22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Two machine learning models were built to predict customer churn: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306672" y="6086477"/>
            <a:ext cx="2767757" cy="509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Random Forest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064222" y="6819108"/>
            <a:ext cx="3863771" cy="1263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2" indent="-259081" lvl="1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Accuracy = 0.99</a:t>
            </a:r>
          </a:p>
          <a:p>
            <a:pPr algn="l" marL="518162" indent="-259081" lvl="1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Recall = 0.99</a:t>
            </a:r>
          </a:p>
          <a:p>
            <a:pPr algn="l" marL="518162" indent="-259081" lvl="1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Precision = 0.99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0">
            <a:off x="2574122" y="6086559"/>
            <a:ext cx="580149" cy="580149"/>
          </a:xfrm>
          <a:custGeom>
            <a:avLst/>
            <a:gdLst/>
            <a:ahLst/>
            <a:cxnLst/>
            <a:rect r="r" b="b" t="t" l="l"/>
            <a:pathLst>
              <a:path h="580149" w="580149">
                <a:moveTo>
                  <a:pt x="0" y="0"/>
                </a:moveTo>
                <a:lnTo>
                  <a:pt x="580150" y="0"/>
                </a:lnTo>
                <a:lnTo>
                  <a:pt x="580150" y="580149"/>
                </a:lnTo>
                <a:lnTo>
                  <a:pt x="0" y="58014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9336726" y="6086477"/>
            <a:ext cx="1555403" cy="5099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b="true" sz="2799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XGB</a:t>
            </a:r>
            <a:r>
              <a:rPr lang="en-US" b="true" sz="2799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oost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9153525" y="6819108"/>
            <a:ext cx="3863771" cy="12630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2" indent="-259081" lvl="1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Accuracy = 0.99</a:t>
            </a:r>
          </a:p>
          <a:p>
            <a:pPr algn="l" marL="518162" indent="-259081" lvl="1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Recall = 1.00</a:t>
            </a:r>
          </a:p>
          <a:p>
            <a:pPr algn="l" marL="518162" indent="-259081" lvl="1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Precision = 1.00</a:t>
            </a:r>
          </a:p>
        </p:txBody>
      </p:sp>
      <p:sp>
        <p:nvSpPr>
          <p:cNvPr name="Freeform 12" id="12"/>
          <p:cNvSpPr/>
          <p:nvPr/>
        </p:nvSpPr>
        <p:spPr>
          <a:xfrm flipH="false" flipV="false" rot="0">
            <a:off x="8452781" y="6086559"/>
            <a:ext cx="580149" cy="580149"/>
          </a:xfrm>
          <a:custGeom>
            <a:avLst/>
            <a:gdLst/>
            <a:ahLst/>
            <a:cxnLst/>
            <a:rect r="r" b="b" t="t" l="l"/>
            <a:pathLst>
              <a:path h="580149" w="580149">
                <a:moveTo>
                  <a:pt x="0" y="0"/>
                </a:moveTo>
                <a:lnTo>
                  <a:pt x="580149" y="0"/>
                </a:lnTo>
                <a:lnTo>
                  <a:pt x="580149" y="580149"/>
                </a:lnTo>
                <a:lnTo>
                  <a:pt x="0" y="580149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3" id="13"/>
          <p:cNvSpPr txBox="true"/>
          <p:nvPr/>
        </p:nvSpPr>
        <p:spPr>
          <a:xfrm rot="0">
            <a:off x="2404170" y="2353628"/>
            <a:ext cx="10207350" cy="14869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81" indent="-237491" lvl="1">
              <a:lnSpc>
                <a:spcPts val="4136"/>
              </a:lnSpc>
              <a:buFont typeface="Arial"/>
              <a:buChar char="•"/>
            </a:pPr>
            <a:r>
              <a:rPr lang="en-US" sz="2200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Enable targeted retention strategies</a:t>
            </a:r>
          </a:p>
          <a:p>
            <a:pPr algn="l" marL="474981" indent="-237491" lvl="1">
              <a:lnSpc>
                <a:spcPts val="3828"/>
              </a:lnSpc>
              <a:buFont typeface="Arial"/>
              <a:buChar char="•"/>
            </a:pPr>
            <a:r>
              <a:rPr lang="en-US" sz="2200" spc="8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Support decision-making for promotions, loyalty programs, and customer support improvements</a:t>
            </a:r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>
            <a:hlinkClick action="ppaction://media"/>
          </p:cNvPr>
          <p:cNvPicPr>
            <a:picLocks noChangeAspect="true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451113" y="1300994"/>
            <a:ext cx="15385774" cy="82296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6263645" y="352425"/>
            <a:ext cx="5760711" cy="676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Str</a:t>
            </a:r>
            <a:r>
              <a:rPr lang="en-US" sz="42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eamlit App Demo</a:t>
            </a:r>
          </a:p>
        </p:txBody>
      </p:sp>
    </p:spTree>
  </p:cSld>
  <p:clrMapOvr>
    <a:masterClrMapping/>
  </p:clrMapOvr>
  <p:timing>
    <p:tnLst>
      <p:par>
        <p:cTn dur="indefinite" restart="never" nodeType="tmRoot">
          <p:childTnLst>
            <p:video>
              <p:cMediaNode vol="100000">
                <p:cTn fill="hold" display="false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false" rot="3049477">
            <a:off x="-687921" y="-1099659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2682558" y="0"/>
                </a:moveTo>
                <a:lnTo>
                  <a:pt x="0" y="0"/>
                </a:lnTo>
                <a:lnTo>
                  <a:pt x="0" y="3778250"/>
                </a:lnTo>
                <a:lnTo>
                  <a:pt x="2682558" y="3778250"/>
                </a:lnTo>
                <a:lnTo>
                  <a:pt x="2682558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2003265">
            <a:off x="14515281" y="7554866"/>
            <a:ext cx="5488037" cy="2860639"/>
          </a:xfrm>
          <a:custGeom>
            <a:avLst/>
            <a:gdLst/>
            <a:ahLst/>
            <a:cxnLst/>
            <a:rect r="r" b="b" t="t" l="l"/>
            <a:pathLst>
              <a:path h="2860639" w="5488037">
                <a:moveTo>
                  <a:pt x="0" y="0"/>
                </a:moveTo>
                <a:lnTo>
                  <a:pt x="5488038" y="0"/>
                </a:lnTo>
                <a:lnTo>
                  <a:pt x="5488038" y="2860639"/>
                </a:lnTo>
                <a:lnTo>
                  <a:pt x="0" y="2860639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2509131" y="3022600"/>
            <a:ext cx="4433339" cy="4405630"/>
          </a:xfrm>
          <a:custGeom>
            <a:avLst/>
            <a:gdLst/>
            <a:ahLst/>
            <a:cxnLst/>
            <a:rect r="r" b="b" t="t" l="l"/>
            <a:pathLst>
              <a:path h="4405630" w="4433339">
                <a:moveTo>
                  <a:pt x="0" y="0"/>
                </a:moveTo>
                <a:lnTo>
                  <a:pt x="4433339" y="0"/>
                </a:lnTo>
                <a:lnTo>
                  <a:pt x="4433339" y="4405630"/>
                </a:lnTo>
                <a:lnTo>
                  <a:pt x="0" y="4405630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1957182" y="1762397"/>
            <a:ext cx="8080889" cy="6572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40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B</a:t>
            </a:r>
            <a:r>
              <a:rPr lang="en-US" sz="4000" b="true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usiness Recommendations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957182" y="3008246"/>
            <a:ext cx="9020997" cy="563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18160" indent="-259080" lvl="1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Improve retention campaigns for customers with high monthly charges.</a:t>
            </a:r>
          </a:p>
          <a:p>
            <a:pPr algn="l" marL="518160" indent="-259080" lvl="1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Enhance customer support for those with multiple service complaints.</a:t>
            </a:r>
          </a:p>
          <a:p>
            <a:pPr algn="l" marL="518160" indent="-259080" lvl="1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Introduce loyalty programs for long-term customers.</a:t>
            </a:r>
          </a:p>
          <a:p>
            <a:pPr algn="l" marL="518160" indent="-259080" lvl="1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Offer discounts or flexible contracts to high-risk segments.</a:t>
            </a:r>
          </a:p>
          <a:p>
            <a:pPr algn="l" marL="518160" indent="-259080" lvl="1">
              <a:lnSpc>
                <a:spcPts val="4079"/>
              </a:lnSpc>
              <a:buFont typeface="Arial"/>
              <a:buChar char="•"/>
            </a:pPr>
            <a:r>
              <a:rPr lang="en-US" sz="2400" spc="72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Continuous monitoring using dashboards and predictive models.</a:t>
            </a:r>
          </a:p>
          <a:p>
            <a:pPr algn="l">
              <a:lnSpc>
                <a:spcPts val="4079"/>
              </a:lnSpc>
            </a:pPr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true" flipV="true" rot="-4369663">
            <a:off x="-820388" y="6927786"/>
            <a:ext cx="3698177" cy="4114800"/>
          </a:xfrm>
          <a:custGeom>
            <a:avLst/>
            <a:gdLst/>
            <a:ahLst/>
            <a:cxnLst/>
            <a:rect r="r" b="b" t="t" l="l"/>
            <a:pathLst>
              <a:path h="4114800" w="3698177">
                <a:moveTo>
                  <a:pt x="3698176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3698176" y="0"/>
                </a:lnTo>
                <a:lnTo>
                  <a:pt x="3698176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635569" y="-860425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true" flipV="false" rot="-5077616">
            <a:off x="15410212" y="7268263"/>
            <a:ext cx="3698176" cy="4114800"/>
          </a:xfrm>
          <a:custGeom>
            <a:avLst/>
            <a:gdLst/>
            <a:ahLst/>
            <a:cxnLst/>
            <a:rect r="r" b="b" t="t" l="l"/>
            <a:pathLst>
              <a:path h="4114800" w="3698176">
                <a:moveTo>
                  <a:pt x="3698176" y="0"/>
                </a:moveTo>
                <a:lnTo>
                  <a:pt x="0" y="0"/>
                </a:lnTo>
                <a:lnTo>
                  <a:pt x="0" y="4114800"/>
                </a:lnTo>
                <a:lnTo>
                  <a:pt x="3698176" y="4114800"/>
                </a:lnTo>
                <a:lnTo>
                  <a:pt x="3698176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5" id="5"/>
          <p:cNvSpPr/>
          <p:nvPr/>
        </p:nvSpPr>
        <p:spPr>
          <a:xfrm flipH="false" flipV="false" rot="0">
            <a:off x="16946721" y="-337650"/>
            <a:ext cx="2682557" cy="3778250"/>
          </a:xfrm>
          <a:custGeom>
            <a:avLst/>
            <a:gdLst/>
            <a:ahLst/>
            <a:cxnLst/>
            <a:rect r="r" b="b" t="t" l="l"/>
            <a:pathLst>
              <a:path h="3778250" w="2682557">
                <a:moveTo>
                  <a:pt x="0" y="0"/>
                </a:moveTo>
                <a:lnTo>
                  <a:pt x="2682558" y="0"/>
                </a:lnTo>
                <a:lnTo>
                  <a:pt x="2682558" y="3778250"/>
                </a:lnTo>
                <a:lnTo>
                  <a:pt x="0" y="377825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2940533" y="5325259"/>
            <a:ext cx="3719937" cy="4221205"/>
          </a:xfrm>
          <a:custGeom>
            <a:avLst/>
            <a:gdLst/>
            <a:ahLst/>
            <a:cxnLst/>
            <a:rect r="r" b="b" t="t" l="l"/>
            <a:pathLst>
              <a:path h="4221205" w="3719937">
                <a:moveTo>
                  <a:pt x="0" y="0"/>
                </a:moveTo>
                <a:lnTo>
                  <a:pt x="3719936" y="0"/>
                </a:lnTo>
                <a:lnTo>
                  <a:pt x="3719936" y="4221205"/>
                </a:lnTo>
                <a:lnTo>
                  <a:pt x="0" y="422120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851036" y="1028700"/>
            <a:ext cx="2923715" cy="2790819"/>
          </a:xfrm>
          <a:custGeom>
            <a:avLst/>
            <a:gdLst/>
            <a:ahLst/>
            <a:cxnLst/>
            <a:rect r="r" b="b" t="t" l="l"/>
            <a:pathLst>
              <a:path h="2790819" w="2923715">
                <a:moveTo>
                  <a:pt x="0" y="0"/>
                </a:moveTo>
                <a:lnTo>
                  <a:pt x="2923714" y="0"/>
                </a:lnTo>
                <a:lnTo>
                  <a:pt x="2923714" y="2790819"/>
                </a:lnTo>
                <a:lnTo>
                  <a:pt x="0" y="27908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6200402" y="4529137"/>
            <a:ext cx="5887196" cy="1162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640"/>
              </a:lnSpc>
            </a:pPr>
            <a:r>
              <a:rPr lang="en-US" b="true" sz="7200">
                <a:solidFill>
                  <a:srgbClr val="1D1D1B"/>
                </a:solidFill>
                <a:latin typeface="Poppins Bold"/>
                <a:ea typeface="Poppins Bold"/>
                <a:cs typeface="Poppins Bold"/>
                <a:sym typeface="Poppins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DAG6lc7iy34</dc:identifier>
  <dcterms:modified xsi:type="dcterms:W3CDTF">2011-08-01T06:04:30Z</dcterms:modified>
  <cp:revision>1</cp:revision>
  <dc:title>StayZen: Customer Churn Presentation</dc:title>
</cp:coreProperties>
</file>