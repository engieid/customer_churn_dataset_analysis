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18288000" cy="10287000"/>
  <p:notesSz cx="6858000" cy="9144000"/>
  <p:embeddedFontLst>
    <p:embeddedFont>
      <p:font typeface="Poppins" panose="00000500000000000000" pitchFamily="2" charset="0"/>
      <p:regular r:id="rId29"/>
    </p:embeddedFont>
    <p:embeddedFont>
      <p:font typeface="Poppins Bold" panose="00000800000000000000" charset="0"/>
      <p:regular r:id="rId3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3" d="100"/>
          <a:sy n="53" d="100"/>
        </p:scale>
        <p:origin x="802" y="1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2.fntdata"/><Relationship Id="rId35" Type="http://schemas.microsoft.com/office/2016/11/relationships/changesInfo" Target="changesInfos/changesInfo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ngi Eid" userId="2e2d24ef8e0ca5f3" providerId="LiveId" clId="{FD5DA3CC-B04A-413C-80ED-5CA0A0E67CCA}"/>
    <pc:docChg chg="modSld">
      <pc:chgData name="Engi Eid" userId="2e2d24ef8e0ca5f3" providerId="LiveId" clId="{FD5DA3CC-B04A-413C-80ED-5CA0A0E67CCA}" dt="2025-12-14T07:48:36.913" v="3" actId="108"/>
      <pc:docMkLst>
        <pc:docMk/>
      </pc:docMkLst>
      <pc:sldChg chg="modSp mod">
        <pc:chgData name="Engi Eid" userId="2e2d24ef8e0ca5f3" providerId="LiveId" clId="{FD5DA3CC-B04A-413C-80ED-5CA0A0E67CCA}" dt="2025-12-14T07:48:01.913" v="1" actId="14100"/>
        <pc:sldMkLst>
          <pc:docMk/>
          <pc:sldMk cId="0" sldId="260"/>
        </pc:sldMkLst>
        <pc:grpChg chg="mod">
          <ac:chgData name="Engi Eid" userId="2e2d24ef8e0ca5f3" providerId="LiveId" clId="{FD5DA3CC-B04A-413C-80ED-5CA0A0E67CCA}" dt="2025-12-14T07:48:01.913" v="1" actId="14100"/>
          <ac:grpSpMkLst>
            <pc:docMk/>
            <pc:sldMk cId="0" sldId="260"/>
            <ac:grpSpMk id="2" creationId="{00000000-0000-0000-0000-000000000000}"/>
          </ac:grpSpMkLst>
        </pc:grpChg>
      </pc:sldChg>
      <pc:sldChg chg="modSp mod">
        <pc:chgData name="Engi Eid" userId="2e2d24ef8e0ca5f3" providerId="LiveId" clId="{FD5DA3CC-B04A-413C-80ED-5CA0A0E67CCA}" dt="2025-12-14T07:48:36.913" v="3" actId="108"/>
        <pc:sldMkLst>
          <pc:docMk/>
          <pc:sldMk cId="0" sldId="273"/>
        </pc:sldMkLst>
        <pc:spChg chg="mod">
          <ac:chgData name="Engi Eid" userId="2e2d24ef8e0ca5f3" providerId="LiveId" clId="{FD5DA3CC-B04A-413C-80ED-5CA0A0E67CCA}" dt="2025-12-14T07:48:36.913" v="3" actId="108"/>
          <ac:spMkLst>
            <pc:docMk/>
            <pc:sldMk cId="0" sldId="273"/>
            <ac:spMk id="7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svg"/><Relationship Id="rId7" Type="http://schemas.openxmlformats.org/officeDocument/2006/relationships/image" Target="../media/image14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svg"/><Relationship Id="rId4" Type="http://schemas.openxmlformats.org/officeDocument/2006/relationships/image" Target="../media/image11.png"/><Relationship Id="rId9" Type="http://schemas.openxmlformats.org/officeDocument/2006/relationships/image" Target="../media/image16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18.svg"/><Relationship Id="rId7" Type="http://schemas.openxmlformats.org/officeDocument/2006/relationships/image" Target="../media/image22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5" Type="http://schemas.openxmlformats.org/officeDocument/2006/relationships/image" Target="../media/image20.svg"/><Relationship Id="rId4" Type="http://schemas.openxmlformats.org/officeDocument/2006/relationships/image" Target="../media/image19.png"/><Relationship Id="rId9" Type="http://schemas.openxmlformats.org/officeDocument/2006/relationships/image" Target="../media/image2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2.svg"/><Relationship Id="rId7" Type="http://schemas.openxmlformats.org/officeDocument/2006/relationships/image" Target="../media/image14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6.svg"/><Relationship Id="rId4" Type="http://schemas.openxmlformats.org/officeDocument/2006/relationships/image" Target="../media/image5.png"/><Relationship Id="rId9" Type="http://schemas.openxmlformats.org/officeDocument/2006/relationships/image" Target="../media/image24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30.svg"/><Relationship Id="rId18" Type="http://schemas.openxmlformats.org/officeDocument/2006/relationships/image" Target="../media/image35.png"/><Relationship Id="rId3" Type="http://schemas.openxmlformats.org/officeDocument/2006/relationships/image" Target="../media/image2.svg"/><Relationship Id="rId7" Type="http://schemas.openxmlformats.org/officeDocument/2006/relationships/image" Target="../media/image18.svg"/><Relationship Id="rId12" Type="http://schemas.openxmlformats.org/officeDocument/2006/relationships/image" Target="../media/image29.png"/><Relationship Id="rId17" Type="http://schemas.openxmlformats.org/officeDocument/2006/relationships/image" Target="../media/image34.svg"/><Relationship Id="rId2" Type="http://schemas.openxmlformats.org/officeDocument/2006/relationships/image" Target="../media/image1.png"/><Relationship Id="rId16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11" Type="http://schemas.openxmlformats.org/officeDocument/2006/relationships/image" Target="../media/image28.svg"/><Relationship Id="rId5" Type="http://schemas.openxmlformats.org/officeDocument/2006/relationships/image" Target="../media/image12.svg"/><Relationship Id="rId15" Type="http://schemas.openxmlformats.org/officeDocument/2006/relationships/image" Target="../media/image32.svg"/><Relationship Id="rId10" Type="http://schemas.openxmlformats.org/officeDocument/2006/relationships/image" Target="../media/image27.png"/><Relationship Id="rId19" Type="http://schemas.openxmlformats.org/officeDocument/2006/relationships/image" Target="../media/image36.svg"/><Relationship Id="rId4" Type="http://schemas.openxmlformats.org/officeDocument/2006/relationships/image" Target="../media/image11.png"/><Relationship Id="rId9" Type="http://schemas.openxmlformats.org/officeDocument/2006/relationships/image" Target="../media/image26.svg"/><Relationship Id="rId14" Type="http://schemas.openxmlformats.org/officeDocument/2006/relationships/image" Target="../media/image3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2.svg"/><Relationship Id="rId7" Type="http://schemas.openxmlformats.org/officeDocument/2006/relationships/image" Target="../media/image38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7.png"/><Relationship Id="rId5" Type="http://schemas.openxmlformats.org/officeDocument/2006/relationships/image" Target="../media/image12.svg"/><Relationship Id="rId4" Type="http://schemas.openxmlformats.org/officeDocument/2006/relationships/image" Target="../media/image11.png"/><Relationship Id="rId9" Type="http://schemas.openxmlformats.org/officeDocument/2006/relationships/image" Target="../media/image40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42.svg"/><Relationship Id="rId7" Type="http://schemas.openxmlformats.org/officeDocument/2006/relationships/image" Target="../media/image6.sv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44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5.gif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6.png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7.png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8.png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9.png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0.png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1.png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2.png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4.png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hyperlink" Target="https://public.tableau.com/views/Churn_Dashboard_17647194498900/Overviewpage?:language=en-US&amp;:sid=&amp;:redirect=auth&amp;:display_count=n&amp;:origin=viz_share_link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5.gif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5.gif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2.svg"/><Relationship Id="rId7" Type="http://schemas.openxmlformats.org/officeDocument/2006/relationships/image" Target="../media/image59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11" Type="http://schemas.openxmlformats.org/officeDocument/2006/relationships/image" Target="../media/image63.svg"/><Relationship Id="rId5" Type="http://schemas.openxmlformats.org/officeDocument/2006/relationships/image" Target="../media/image12.svg"/><Relationship Id="rId10" Type="http://schemas.openxmlformats.org/officeDocument/2006/relationships/image" Target="../media/image62.png"/><Relationship Id="rId4" Type="http://schemas.openxmlformats.org/officeDocument/2006/relationships/image" Target="../media/image11.png"/><Relationship Id="rId9" Type="http://schemas.openxmlformats.org/officeDocument/2006/relationships/image" Target="../media/image61.sv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64.jpe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5.gif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3" Type="http://schemas.openxmlformats.org/officeDocument/2006/relationships/image" Target="../media/image10.svg"/><Relationship Id="rId7" Type="http://schemas.openxmlformats.org/officeDocument/2006/relationships/image" Target="../media/image14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svg"/><Relationship Id="rId4" Type="http://schemas.openxmlformats.org/officeDocument/2006/relationships/image" Target="../media/image11.png"/><Relationship Id="rId9" Type="http://schemas.openxmlformats.org/officeDocument/2006/relationships/image" Target="../media/image66.sv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3" Type="http://schemas.openxmlformats.org/officeDocument/2006/relationships/image" Target="../media/image10.svg"/><Relationship Id="rId7" Type="http://schemas.openxmlformats.org/officeDocument/2006/relationships/image" Target="../media/image68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7.png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4369663" flipH="1" flipV="1">
            <a:off x="-820388" y="6927786"/>
            <a:ext cx="3698177" cy="4114800"/>
          </a:xfrm>
          <a:custGeom>
            <a:avLst/>
            <a:gdLst/>
            <a:ahLst/>
            <a:cxnLst/>
            <a:rect l="l" t="t" r="r" b="b"/>
            <a:pathLst>
              <a:path w="3698177" h="4114800">
                <a:moveTo>
                  <a:pt x="3698176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3698176" y="0"/>
                </a:lnTo>
                <a:lnTo>
                  <a:pt x="3698176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-635569" y="-860425"/>
            <a:ext cx="2682557" cy="3778250"/>
          </a:xfrm>
          <a:custGeom>
            <a:avLst/>
            <a:gdLst/>
            <a:ahLst/>
            <a:cxnLst/>
            <a:rect l="l" t="t" r="r" b="b"/>
            <a:pathLst>
              <a:path w="2682557" h="3778250">
                <a:moveTo>
                  <a:pt x="0" y="0"/>
                </a:moveTo>
                <a:lnTo>
                  <a:pt x="2682558" y="0"/>
                </a:lnTo>
                <a:lnTo>
                  <a:pt x="2682558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>
            <a:off x="14612860" y="6927786"/>
            <a:ext cx="4059190" cy="3482447"/>
          </a:xfrm>
          <a:custGeom>
            <a:avLst/>
            <a:gdLst/>
            <a:ahLst/>
            <a:cxnLst/>
            <a:rect l="l" t="t" r="r" b="b"/>
            <a:pathLst>
              <a:path w="4059190" h="3482447">
                <a:moveTo>
                  <a:pt x="0" y="0"/>
                </a:moveTo>
                <a:lnTo>
                  <a:pt x="4059190" y="0"/>
                </a:lnTo>
                <a:lnTo>
                  <a:pt x="4059190" y="3482446"/>
                </a:lnTo>
                <a:lnTo>
                  <a:pt x="0" y="348244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14170094" y="538164"/>
            <a:ext cx="3089206" cy="3243261"/>
          </a:xfrm>
          <a:custGeom>
            <a:avLst/>
            <a:gdLst/>
            <a:ahLst/>
            <a:cxnLst/>
            <a:rect l="l" t="t" r="r" b="b"/>
            <a:pathLst>
              <a:path w="3089206" h="3243261">
                <a:moveTo>
                  <a:pt x="0" y="0"/>
                </a:moveTo>
                <a:lnTo>
                  <a:pt x="3089206" y="0"/>
                </a:lnTo>
                <a:lnTo>
                  <a:pt x="3089206" y="3243261"/>
                </a:lnTo>
                <a:lnTo>
                  <a:pt x="0" y="324326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TextBox 6"/>
          <p:cNvSpPr txBox="1"/>
          <p:nvPr/>
        </p:nvSpPr>
        <p:spPr>
          <a:xfrm>
            <a:off x="3527961" y="6001489"/>
            <a:ext cx="11232079" cy="638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 data-driven approach to understanding and reducing customer churn</a:t>
            </a:r>
          </a:p>
          <a:p>
            <a:pPr algn="ctr">
              <a:lnSpc>
                <a:spcPts val="24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Supervised by: Eng Mahmoud Emad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208975" y="4808959"/>
            <a:ext cx="11870050" cy="868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719"/>
              </a:lnSpc>
              <a:spcBef>
                <a:spcPct val="0"/>
              </a:spcBef>
            </a:pPr>
            <a:r>
              <a:rPr lang="en-US" sz="4800" b="1">
                <a:solidFill>
                  <a:srgbClr val="DD5768"/>
                </a:solidFill>
                <a:latin typeface="Poppins Bold"/>
                <a:ea typeface="Poppins Bold"/>
                <a:cs typeface="Poppins Bold"/>
                <a:sym typeface="Poppins Bold"/>
              </a:rPr>
              <a:t>Keeping Customers, Reducing Churn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2078625" y="1009650"/>
            <a:ext cx="2089249" cy="7010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460"/>
              </a:lnSpc>
              <a:spcBef>
                <a:spcPct val="0"/>
              </a:spcBef>
            </a:pPr>
            <a:r>
              <a:rPr lang="en-US" sz="3900" b="1">
                <a:solidFill>
                  <a:srgbClr val="DD5768"/>
                </a:solidFill>
                <a:latin typeface="Poppins Bold"/>
                <a:ea typeface="Poppins Bold"/>
                <a:cs typeface="Poppins Bold"/>
                <a:sym typeface="Poppins Bold"/>
              </a:rPr>
              <a:t>StayZen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4369663" flipH="1" flipV="1">
            <a:off x="-820388" y="6927786"/>
            <a:ext cx="3698177" cy="4114800"/>
          </a:xfrm>
          <a:custGeom>
            <a:avLst/>
            <a:gdLst/>
            <a:ahLst/>
            <a:cxnLst/>
            <a:rect l="l" t="t" r="r" b="b"/>
            <a:pathLst>
              <a:path w="3698177" h="4114800">
                <a:moveTo>
                  <a:pt x="3698176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3698176" y="0"/>
                </a:lnTo>
                <a:lnTo>
                  <a:pt x="3698176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 rot="3049477" flipH="1">
            <a:off x="-687921" y="-1099659"/>
            <a:ext cx="2682557" cy="3778250"/>
          </a:xfrm>
          <a:custGeom>
            <a:avLst/>
            <a:gdLst/>
            <a:ahLst/>
            <a:cxnLst/>
            <a:rect l="l" t="t" r="r" b="b"/>
            <a:pathLst>
              <a:path w="2682557" h="3778250">
                <a:moveTo>
                  <a:pt x="2682558" y="0"/>
                </a:moveTo>
                <a:lnTo>
                  <a:pt x="0" y="0"/>
                </a:lnTo>
                <a:lnTo>
                  <a:pt x="0" y="3778250"/>
                </a:lnTo>
                <a:lnTo>
                  <a:pt x="2682558" y="3778250"/>
                </a:lnTo>
                <a:lnTo>
                  <a:pt x="2682558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 rot="-2003265">
            <a:off x="14515281" y="7856555"/>
            <a:ext cx="5488037" cy="2860639"/>
          </a:xfrm>
          <a:custGeom>
            <a:avLst/>
            <a:gdLst/>
            <a:ahLst/>
            <a:cxnLst/>
            <a:rect l="l" t="t" r="r" b="b"/>
            <a:pathLst>
              <a:path w="5488037" h="2860639">
                <a:moveTo>
                  <a:pt x="0" y="0"/>
                </a:moveTo>
                <a:lnTo>
                  <a:pt x="5488038" y="0"/>
                </a:lnTo>
                <a:lnTo>
                  <a:pt x="5488038" y="2860640"/>
                </a:lnTo>
                <a:lnTo>
                  <a:pt x="0" y="28606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11162901" y="2998905"/>
            <a:ext cx="5145965" cy="4593943"/>
          </a:xfrm>
          <a:custGeom>
            <a:avLst/>
            <a:gdLst/>
            <a:ahLst/>
            <a:cxnLst/>
            <a:rect l="l" t="t" r="r" b="b"/>
            <a:pathLst>
              <a:path w="5145965" h="4593943">
                <a:moveTo>
                  <a:pt x="0" y="0"/>
                </a:moveTo>
                <a:lnTo>
                  <a:pt x="5145965" y="0"/>
                </a:lnTo>
                <a:lnTo>
                  <a:pt x="5145965" y="4593943"/>
                </a:lnTo>
                <a:lnTo>
                  <a:pt x="0" y="4593943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TextBox 6"/>
          <p:cNvSpPr txBox="1"/>
          <p:nvPr/>
        </p:nvSpPr>
        <p:spPr>
          <a:xfrm>
            <a:off x="1957182" y="3177329"/>
            <a:ext cx="2965315" cy="676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Our Team:</a:t>
            </a:r>
            <a:r>
              <a:rPr lang="en-US" sz="4200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 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957182" y="4364947"/>
            <a:ext cx="7186818" cy="27828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77235" lvl="1" indent="-388618" algn="just">
              <a:lnSpc>
                <a:spcPts val="5507"/>
              </a:lnSpc>
              <a:buFont typeface="Arial"/>
              <a:buChar char="•"/>
            </a:pPr>
            <a:r>
              <a:rPr lang="en-US" sz="35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Engi Eid    </a:t>
            </a:r>
          </a:p>
          <a:p>
            <a:pPr marL="777240" lvl="1" indent="-388620" algn="just">
              <a:lnSpc>
                <a:spcPts val="5508"/>
              </a:lnSpc>
              <a:buFont typeface="Arial"/>
              <a:buChar char="•"/>
            </a:pPr>
            <a:r>
              <a:rPr lang="en-US" sz="3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Hager Elmalah</a:t>
            </a:r>
          </a:p>
          <a:p>
            <a:pPr marL="777240" lvl="1" indent="-388620" algn="just">
              <a:lnSpc>
                <a:spcPts val="5508"/>
              </a:lnSpc>
              <a:buFont typeface="Arial"/>
              <a:buChar char="•"/>
            </a:pPr>
            <a:r>
              <a:rPr lang="en-US" sz="3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Mazen Tarek</a:t>
            </a:r>
          </a:p>
          <a:p>
            <a:pPr marL="777240" lvl="1" indent="-388620" algn="just">
              <a:lnSpc>
                <a:spcPts val="5508"/>
              </a:lnSpc>
              <a:buFont typeface="Arial"/>
              <a:buChar char="•"/>
            </a:pPr>
            <a:r>
              <a:rPr lang="en-US" sz="3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Nada Alaa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892062" y="3053504"/>
            <a:ext cx="2906232" cy="868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719"/>
              </a:lnSpc>
              <a:spcBef>
                <a:spcPct val="0"/>
              </a:spcBef>
            </a:pPr>
            <a:r>
              <a:rPr lang="en-US" sz="4800" b="1">
                <a:solidFill>
                  <a:srgbClr val="E74D61"/>
                </a:solidFill>
                <a:latin typeface="Poppins Bold"/>
                <a:ea typeface="Poppins Bold"/>
                <a:cs typeface="Poppins Bold"/>
                <a:sym typeface="Poppins Bold"/>
              </a:rPr>
              <a:t>StayZen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9144000" cy="10287000"/>
            <a:chOff x="0" y="0"/>
            <a:chExt cx="2408296" cy="27093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08296" cy="2709333"/>
            </a:xfrm>
            <a:custGeom>
              <a:avLst/>
              <a:gdLst/>
              <a:ahLst/>
              <a:cxnLst/>
              <a:rect l="l" t="t" r="r" b="b"/>
              <a:pathLst>
                <a:path w="2408296" h="2709333">
                  <a:moveTo>
                    <a:pt x="0" y="0"/>
                  </a:moveTo>
                  <a:lnTo>
                    <a:pt x="2408296" y="0"/>
                  </a:lnTo>
                  <a:lnTo>
                    <a:pt x="2408296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E74D61">
                <a:alpha val="9098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57150"/>
              <a:ext cx="2408296" cy="27664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 rot="-4369663" flipH="1" flipV="1">
            <a:off x="-820388" y="6927786"/>
            <a:ext cx="3698177" cy="4114800"/>
          </a:xfrm>
          <a:custGeom>
            <a:avLst/>
            <a:gdLst/>
            <a:ahLst/>
            <a:cxnLst/>
            <a:rect l="l" t="t" r="r" b="b"/>
            <a:pathLst>
              <a:path w="3698177" h="4114800">
                <a:moveTo>
                  <a:pt x="3698176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3698176" y="0"/>
                </a:lnTo>
                <a:lnTo>
                  <a:pt x="3698176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-321244" y="-1874821"/>
            <a:ext cx="2682557" cy="3778250"/>
          </a:xfrm>
          <a:custGeom>
            <a:avLst/>
            <a:gdLst/>
            <a:ahLst/>
            <a:cxnLst/>
            <a:rect l="l" t="t" r="r" b="b"/>
            <a:pathLst>
              <a:path w="2682557" h="3778250">
                <a:moveTo>
                  <a:pt x="0" y="0"/>
                </a:moveTo>
                <a:lnTo>
                  <a:pt x="2682558" y="0"/>
                </a:lnTo>
                <a:lnTo>
                  <a:pt x="2682558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/>
          <p:cNvSpPr/>
          <p:nvPr/>
        </p:nvSpPr>
        <p:spPr>
          <a:xfrm>
            <a:off x="9820387" y="2542051"/>
            <a:ext cx="6895406" cy="5202897"/>
          </a:xfrm>
          <a:custGeom>
            <a:avLst/>
            <a:gdLst/>
            <a:ahLst/>
            <a:cxnLst/>
            <a:rect l="l" t="t" r="r" b="b"/>
            <a:pathLst>
              <a:path w="6895406" h="5202897">
                <a:moveTo>
                  <a:pt x="0" y="0"/>
                </a:moveTo>
                <a:lnTo>
                  <a:pt x="6895406" y="0"/>
                </a:lnTo>
                <a:lnTo>
                  <a:pt x="6895406" y="5202898"/>
                </a:lnTo>
                <a:lnTo>
                  <a:pt x="0" y="520289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TextBox 8"/>
          <p:cNvSpPr txBox="1"/>
          <p:nvPr/>
        </p:nvSpPr>
        <p:spPr>
          <a:xfrm>
            <a:off x="705710" y="2446801"/>
            <a:ext cx="7205552" cy="571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500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Business Overview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05710" y="3431413"/>
            <a:ext cx="7940603" cy="56935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74979" lvl="1" indent="-237490" algn="l">
              <a:lnSpc>
                <a:spcPts val="3783"/>
              </a:lnSpc>
              <a:buFont typeface="Arial"/>
              <a:buChar char="•"/>
            </a:pPr>
            <a:r>
              <a:rPr lang="en-US" sz="2199" spc="8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The telecom industry is highly competitive, with customers having multiple alternatives.</a:t>
            </a:r>
          </a:p>
          <a:p>
            <a:pPr algn="l">
              <a:lnSpc>
                <a:spcPts val="3783"/>
              </a:lnSpc>
            </a:pPr>
            <a:endParaRPr lang="en-US" sz="2199" spc="81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74979" lvl="1" indent="-237490" algn="l">
              <a:lnSpc>
                <a:spcPts val="3783"/>
              </a:lnSpc>
              <a:buFont typeface="Arial"/>
              <a:buChar char="•"/>
            </a:pPr>
            <a:r>
              <a:rPr lang="en-US" sz="2199" spc="8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Customer retention is more cost-effective than acquiring new customers.</a:t>
            </a:r>
          </a:p>
          <a:p>
            <a:pPr algn="l">
              <a:lnSpc>
                <a:spcPts val="3783"/>
              </a:lnSpc>
            </a:pPr>
            <a:endParaRPr lang="en-US" sz="2199" spc="81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74979" lvl="1" indent="-237490" algn="l">
              <a:lnSpc>
                <a:spcPts val="3783"/>
              </a:lnSpc>
              <a:buFont typeface="Arial"/>
              <a:buChar char="•"/>
            </a:pPr>
            <a:r>
              <a:rPr lang="en-US" sz="2199" spc="8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Managing churn is essential to maintain stable revenue and improve long-term profitability.</a:t>
            </a:r>
          </a:p>
          <a:p>
            <a:pPr algn="l">
              <a:lnSpc>
                <a:spcPts val="3783"/>
              </a:lnSpc>
            </a:pPr>
            <a:endParaRPr lang="en-US" sz="2199" spc="81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74979" lvl="1" indent="-237490" algn="l">
              <a:lnSpc>
                <a:spcPts val="3783"/>
              </a:lnSpc>
              <a:buFont typeface="Arial"/>
              <a:buChar char="•"/>
            </a:pPr>
            <a:r>
              <a:rPr lang="en-US" sz="2199" spc="8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Our project focuses on understanding customer behavior and identifying factors leading to churn.</a:t>
            </a:r>
          </a:p>
          <a:p>
            <a:pPr algn="l">
              <a:lnSpc>
                <a:spcPts val="3783"/>
              </a:lnSpc>
            </a:pPr>
            <a:endParaRPr lang="en-US" sz="2199" spc="81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" name="Freeform 10"/>
          <p:cNvSpPr/>
          <p:nvPr/>
        </p:nvSpPr>
        <p:spPr>
          <a:xfrm rot="-5077616" flipH="1">
            <a:off x="15410212" y="7268263"/>
            <a:ext cx="3698176" cy="4114800"/>
          </a:xfrm>
          <a:custGeom>
            <a:avLst/>
            <a:gdLst/>
            <a:ahLst/>
            <a:cxnLst/>
            <a:rect l="l" t="t" r="r" b="b"/>
            <a:pathLst>
              <a:path w="3698176" h="4114800">
                <a:moveTo>
                  <a:pt x="3698176" y="0"/>
                </a:moveTo>
                <a:lnTo>
                  <a:pt x="0" y="0"/>
                </a:lnTo>
                <a:lnTo>
                  <a:pt x="0" y="4114800"/>
                </a:lnTo>
                <a:lnTo>
                  <a:pt x="3698176" y="4114800"/>
                </a:lnTo>
                <a:lnTo>
                  <a:pt x="3698176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4369663" flipH="1" flipV="1">
            <a:off x="-820388" y="7200900"/>
            <a:ext cx="3698177" cy="4114800"/>
          </a:xfrm>
          <a:custGeom>
            <a:avLst/>
            <a:gdLst/>
            <a:ahLst/>
            <a:cxnLst/>
            <a:rect l="l" t="t" r="r" b="b"/>
            <a:pathLst>
              <a:path w="3698177" h="4114800">
                <a:moveTo>
                  <a:pt x="3698176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3698176" y="0"/>
                </a:lnTo>
                <a:lnTo>
                  <a:pt x="3698176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 flipH="1" flipV="1">
            <a:off x="-518871" y="-512234"/>
            <a:ext cx="3761418" cy="3226984"/>
          </a:xfrm>
          <a:custGeom>
            <a:avLst/>
            <a:gdLst/>
            <a:ahLst/>
            <a:cxnLst/>
            <a:rect l="l" t="t" r="r" b="b"/>
            <a:pathLst>
              <a:path w="3761418" h="3226984">
                <a:moveTo>
                  <a:pt x="3761418" y="3226983"/>
                </a:moveTo>
                <a:lnTo>
                  <a:pt x="0" y="3226983"/>
                </a:lnTo>
                <a:lnTo>
                  <a:pt x="0" y="0"/>
                </a:lnTo>
                <a:lnTo>
                  <a:pt x="3761418" y="0"/>
                </a:lnTo>
                <a:lnTo>
                  <a:pt x="3761418" y="3226983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4" name="Group 4"/>
          <p:cNvGrpSpPr/>
          <p:nvPr/>
        </p:nvGrpSpPr>
        <p:grpSpPr>
          <a:xfrm>
            <a:off x="1993132" y="3233721"/>
            <a:ext cx="714066" cy="3911617"/>
            <a:chOff x="0" y="0"/>
            <a:chExt cx="208979" cy="114477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08979" cy="1144777"/>
            </a:xfrm>
            <a:custGeom>
              <a:avLst/>
              <a:gdLst/>
              <a:ahLst/>
              <a:cxnLst/>
              <a:rect l="l" t="t" r="r" b="b"/>
              <a:pathLst>
                <a:path w="208979" h="1144777">
                  <a:moveTo>
                    <a:pt x="104490" y="0"/>
                  </a:moveTo>
                  <a:lnTo>
                    <a:pt x="104490" y="0"/>
                  </a:lnTo>
                  <a:cubicBezTo>
                    <a:pt x="132202" y="0"/>
                    <a:pt x="158779" y="11009"/>
                    <a:pt x="178375" y="30604"/>
                  </a:cubicBezTo>
                  <a:cubicBezTo>
                    <a:pt x="197970" y="50200"/>
                    <a:pt x="208979" y="76777"/>
                    <a:pt x="208979" y="104490"/>
                  </a:cubicBezTo>
                  <a:lnTo>
                    <a:pt x="208979" y="1040287"/>
                  </a:lnTo>
                  <a:cubicBezTo>
                    <a:pt x="208979" y="1068000"/>
                    <a:pt x="197970" y="1094577"/>
                    <a:pt x="178375" y="1114173"/>
                  </a:cubicBezTo>
                  <a:cubicBezTo>
                    <a:pt x="158779" y="1133768"/>
                    <a:pt x="132202" y="1144777"/>
                    <a:pt x="104490" y="1144777"/>
                  </a:cubicBezTo>
                  <a:lnTo>
                    <a:pt x="104490" y="1144777"/>
                  </a:lnTo>
                  <a:cubicBezTo>
                    <a:pt x="46782" y="1144777"/>
                    <a:pt x="0" y="1097995"/>
                    <a:pt x="0" y="1040287"/>
                  </a:cubicBezTo>
                  <a:lnTo>
                    <a:pt x="0" y="104490"/>
                  </a:lnTo>
                  <a:cubicBezTo>
                    <a:pt x="0" y="46782"/>
                    <a:pt x="46782" y="0"/>
                    <a:pt x="104490" y="0"/>
                  </a:cubicBezTo>
                  <a:close/>
                </a:path>
              </a:pathLst>
            </a:custGeom>
            <a:solidFill>
              <a:srgbClr val="E74D6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208979" cy="120192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 rot="-2003265">
            <a:off x="14515281" y="7497770"/>
            <a:ext cx="5488037" cy="2860639"/>
          </a:xfrm>
          <a:custGeom>
            <a:avLst/>
            <a:gdLst/>
            <a:ahLst/>
            <a:cxnLst/>
            <a:rect l="l" t="t" r="r" b="b"/>
            <a:pathLst>
              <a:path w="5488037" h="2860639">
                <a:moveTo>
                  <a:pt x="0" y="0"/>
                </a:moveTo>
                <a:lnTo>
                  <a:pt x="5488038" y="0"/>
                </a:lnTo>
                <a:lnTo>
                  <a:pt x="5488038" y="2860639"/>
                </a:lnTo>
                <a:lnTo>
                  <a:pt x="0" y="286063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/>
          <p:cNvSpPr/>
          <p:nvPr/>
        </p:nvSpPr>
        <p:spPr>
          <a:xfrm>
            <a:off x="2941423" y="3338012"/>
            <a:ext cx="3703035" cy="3703035"/>
          </a:xfrm>
          <a:custGeom>
            <a:avLst/>
            <a:gdLst/>
            <a:ahLst/>
            <a:cxnLst/>
            <a:rect l="l" t="t" r="r" b="b"/>
            <a:pathLst>
              <a:path w="3703035" h="3703035">
                <a:moveTo>
                  <a:pt x="0" y="0"/>
                </a:moveTo>
                <a:lnTo>
                  <a:pt x="3703035" y="0"/>
                </a:lnTo>
                <a:lnTo>
                  <a:pt x="3703035" y="3703035"/>
                </a:lnTo>
                <a:lnTo>
                  <a:pt x="0" y="370303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TextBox 9"/>
          <p:cNvSpPr txBox="1"/>
          <p:nvPr/>
        </p:nvSpPr>
        <p:spPr>
          <a:xfrm>
            <a:off x="8115300" y="3290387"/>
            <a:ext cx="7205552" cy="657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00"/>
              </a:lnSpc>
            </a:pPr>
            <a:r>
              <a:rPr lang="en-US" sz="4000" b="1">
                <a:solidFill>
                  <a:srgbClr val="E74D61"/>
                </a:solidFill>
                <a:latin typeface="Poppins Bold"/>
                <a:ea typeface="Poppins Bold"/>
                <a:cs typeface="Poppins Bold"/>
                <a:sym typeface="Poppins Bold"/>
              </a:rPr>
              <a:t>Business Problem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115300" y="4263724"/>
            <a:ext cx="9144000" cy="41601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74981" lvl="1" indent="-237491" algn="l">
              <a:lnSpc>
                <a:spcPts val="4158"/>
              </a:lnSpc>
              <a:buFont typeface="Arial"/>
              <a:buChar char="•"/>
            </a:pPr>
            <a:r>
              <a:rPr lang="en-US" sz="2200" spc="22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The company is experiencing a rising customer churn rate.</a:t>
            </a:r>
          </a:p>
          <a:p>
            <a:pPr marL="474981" lvl="1" indent="-237491" algn="l">
              <a:lnSpc>
                <a:spcPts val="4158"/>
              </a:lnSpc>
              <a:buFont typeface="Arial"/>
              <a:buChar char="•"/>
            </a:pPr>
            <a:r>
              <a:rPr lang="en-US" sz="2200" spc="22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Losing customers directly impacts revenue and market share.</a:t>
            </a:r>
          </a:p>
          <a:p>
            <a:pPr marL="474981" lvl="1" indent="-237491" algn="l">
              <a:lnSpc>
                <a:spcPts val="4158"/>
              </a:lnSpc>
              <a:buFont typeface="Arial"/>
              <a:buChar char="•"/>
            </a:pPr>
            <a:r>
              <a:rPr lang="en-US" sz="2200" spc="22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Key business question:</a:t>
            </a:r>
          </a:p>
          <a:p>
            <a:pPr algn="l">
              <a:lnSpc>
                <a:spcPts val="4158"/>
              </a:lnSpc>
            </a:pPr>
            <a:r>
              <a:rPr lang="en-US" sz="2200" spc="22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     “Which customers are most likely to churn, and why?”</a:t>
            </a:r>
          </a:p>
          <a:p>
            <a:pPr marL="474981" lvl="1" indent="-237491" algn="l">
              <a:lnSpc>
                <a:spcPts val="4158"/>
              </a:lnSpc>
              <a:buFont typeface="Arial"/>
              <a:buChar char="•"/>
            </a:pPr>
            <a:r>
              <a:rPr lang="en-US" sz="2200" spc="22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Understanding churn drivers helps target customers with personalized retention strategies.</a:t>
            </a:r>
          </a:p>
          <a:p>
            <a:pPr algn="l">
              <a:lnSpc>
                <a:spcPts val="4158"/>
              </a:lnSpc>
            </a:pPr>
            <a:endParaRPr lang="en-US" sz="2200" spc="22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0" y="-114300"/>
            <a:ext cx="9144000" cy="10415122"/>
            <a:chOff x="0" y="0"/>
            <a:chExt cx="2408296" cy="27093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08296" cy="2709333"/>
            </a:xfrm>
            <a:custGeom>
              <a:avLst/>
              <a:gdLst/>
              <a:ahLst/>
              <a:cxnLst/>
              <a:rect l="l" t="t" r="r" b="b"/>
              <a:pathLst>
                <a:path w="2408296" h="2709333">
                  <a:moveTo>
                    <a:pt x="0" y="0"/>
                  </a:moveTo>
                  <a:lnTo>
                    <a:pt x="2408296" y="0"/>
                  </a:lnTo>
                  <a:lnTo>
                    <a:pt x="2408296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E74D6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57150"/>
              <a:ext cx="2408296" cy="27664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 rot="-4369663" flipH="1" flipV="1">
            <a:off x="-820388" y="6927786"/>
            <a:ext cx="3698177" cy="4114800"/>
          </a:xfrm>
          <a:custGeom>
            <a:avLst/>
            <a:gdLst/>
            <a:ahLst/>
            <a:cxnLst/>
            <a:rect l="l" t="t" r="r" b="b"/>
            <a:pathLst>
              <a:path w="3698177" h="4114800">
                <a:moveTo>
                  <a:pt x="3698176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3698176" y="0"/>
                </a:lnTo>
                <a:lnTo>
                  <a:pt x="3698176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-635569" y="-860425"/>
            <a:ext cx="2682557" cy="3778250"/>
          </a:xfrm>
          <a:custGeom>
            <a:avLst/>
            <a:gdLst/>
            <a:ahLst/>
            <a:cxnLst/>
            <a:rect l="l" t="t" r="r" b="b"/>
            <a:pathLst>
              <a:path w="2682557" h="3778250">
                <a:moveTo>
                  <a:pt x="0" y="0"/>
                </a:moveTo>
                <a:lnTo>
                  <a:pt x="2682558" y="0"/>
                </a:lnTo>
                <a:lnTo>
                  <a:pt x="2682558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/>
          <p:cNvSpPr/>
          <p:nvPr/>
        </p:nvSpPr>
        <p:spPr>
          <a:xfrm rot="-5077616" flipH="1">
            <a:off x="15410212" y="7268263"/>
            <a:ext cx="3698176" cy="4114800"/>
          </a:xfrm>
          <a:custGeom>
            <a:avLst/>
            <a:gdLst/>
            <a:ahLst/>
            <a:cxnLst/>
            <a:rect l="l" t="t" r="r" b="b"/>
            <a:pathLst>
              <a:path w="3698176" h="4114800">
                <a:moveTo>
                  <a:pt x="3698176" y="0"/>
                </a:moveTo>
                <a:lnTo>
                  <a:pt x="0" y="0"/>
                </a:lnTo>
                <a:lnTo>
                  <a:pt x="0" y="4114800"/>
                </a:lnTo>
                <a:lnTo>
                  <a:pt x="3698176" y="4114800"/>
                </a:lnTo>
                <a:lnTo>
                  <a:pt x="3698176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8" name="Freeform 8"/>
          <p:cNvSpPr/>
          <p:nvPr/>
        </p:nvSpPr>
        <p:spPr>
          <a:xfrm>
            <a:off x="2535746" y="3584020"/>
            <a:ext cx="4779639" cy="4336436"/>
          </a:xfrm>
          <a:custGeom>
            <a:avLst/>
            <a:gdLst/>
            <a:ahLst/>
            <a:cxnLst/>
            <a:rect l="l" t="t" r="r" b="b"/>
            <a:pathLst>
              <a:path w="4779639" h="4336436">
                <a:moveTo>
                  <a:pt x="0" y="0"/>
                </a:moveTo>
                <a:lnTo>
                  <a:pt x="4779639" y="0"/>
                </a:lnTo>
                <a:lnTo>
                  <a:pt x="4779639" y="4336436"/>
                </a:lnTo>
                <a:lnTo>
                  <a:pt x="0" y="433643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Freeform 9"/>
          <p:cNvSpPr/>
          <p:nvPr/>
        </p:nvSpPr>
        <p:spPr>
          <a:xfrm>
            <a:off x="9960637" y="1244600"/>
            <a:ext cx="778570" cy="849630"/>
          </a:xfrm>
          <a:custGeom>
            <a:avLst/>
            <a:gdLst/>
            <a:ahLst/>
            <a:cxnLst/>
            <a:rect l="l" t="t" r="r" b="b"/>
            <a:pathLst>
              <a:path w="778570" h="849630">
                <a:moveTo>
                  <a:pt x="0" y="0"/>
                </a:moveTo>
                <a:lnTo>
                  <a:pt x="778570" y="0"/>
                </a:lnTo>
                <a:lnTo>
                  <a:pt x="778570" y="849630"/>
                </a:lnTo>
                <a:lnTo>
                  <a:pt x="0" y="84963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Freeform 10"/>
          <p:cNvSpPr/>
          <p:nvPr/>
        </p:nvSpPr>
        <p:spPr>
          <a:xfrm>
            <a:off x="9960637" y="3239281"/>
            <a:ext cx="778570" cy="587820"/>
          </a:xfrm>
          <a:custGeom>
            <a:avLst/>
            <a:gdLst/>
            <a:ahLst/>
            <a:cxnLst/>
            <a:rect l="l" t="t" r="r" b="b"/>
            <a:pathLst>
              <a:path w="778570" h="587820">
                <a:moveTo>
                  <a:pt x="0" y="0"/>
                </a:moveTo>
                <a:lnTo>
                  <a:pt x="778570" y="0"/>
                </a:lnTo>
                <a:lnTo>
                  <a:pt x="778570" y="587820"/>
                </a:lnTo>
                <a:lnTo>
                  <a:pt x="0" y="587820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>
          <a:xfrm>
            <a:off x="9960637" y="4862209"/>
            <a:ext cx="778570" cy="778570"/>
          </a:xfrm>
          <a:custGeom>
            <a:avLst/>
            <a:gdLst/>
            <a:ahLst/>
            <a:cxnLst/>
            <a:rect l="l" t="t" r="r" b="b"/>
            <a:pathLst>
              <a:path w="778570" h="778570">
                <a:moveTo>
                  <a:pt x="0" y="0"/>
                </a:moveTo>
                <a:lnTo>
                  <a:pt x="778570" y="0"/>
                </a:lnTo>
                <a:lnTo>
                  <a:pt x="778570" y="778570"/>
                </a:lnTo>
                <a:lnTo>
                  <a:pt x="0" y="778570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2" name="Freeform 12"/>
          <p:cNvSpPr/>
          <p:nvPr/>
        </p:nvSpPr>
        <p:spPr>
          <a:xfrm>
            <a:off x="9960637" y="6698054"/>
            <a:ext cx="778570" cy="794459"/>
          </a:xfrm>
          <a:custGeom>
            <a:avLst/>
            <a:gdLst/>
            <a:ahLst/>
            <a:cxnLst/>
            <a:rect l="l" t="t" r="r" b="b"/>
            <a:pathLst>
              <a:path w="778570" h="794459">
                <a:moveTo>
                  <a:pt x="0" y="0"/>
                </a:moveTo>
                <a:lnTo>
                  <a:pt x="778570" y="0"/>
                </a:lnTo>
                <a:lnTo>
                  <a:pt x="778570" y="794459"/>
                </a:lnTo>
                <a:lnTo>
                  <a:pt x="0" y="794459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Freeform 13"/>
          <p:cNvSpPr/>
          <p:nvPr/>
        </p:nvSpPr>
        <p:spPr>
          <a:xfrm>
            <a:off x="9960637" y="8325411"/>
            <a:ext cx="778570" cy="802650"/>
          </a:xfrm>
          <a:custGeom>
            <a:avLst/>
            <a:gdLst/>
            <a:ahLst/>
            <a:cxnLst/>
            <a:rect l="l" t="t" r="r" b="b"/>
            <a:pathLst>
              <a:path w="778570" h="802650">
                <a:moveTo>
                  <a:pt x="0" y="0"/>
                </a:moveTo>
                <a:lnTo>
                  <a:pt x="778570" y="0"/>
                </a:lnTo>
                <a:lnTo>
                  <a:pt x="778570" y="802650"/>
                </a:lnTo>
                <a:lnTo>
                  <a:pt x="0" y="802650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4"/>
          <p:cNvSpPr txBox="1"/>
          <p:nvPr/>
        </p:nvSpPr>
        <p:spPr>
          <a:xfrm>
            <a:off x="2046989" y="1475105"/>
            <a:ext cx="3426719" cy="571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500" b="1">
                <a:solidFill>
                  <a:srgbClr val="1D1D1B"/>
                </a:solidFill>
                <a:latin typeface="Poppins Bold"/>
                <a:ea typeface="Poppins Bold"/>
                <a:cs typeface="Poppins Bold"/>
                <a:sym typeface="Poppins Bold"/>
              </a:rPr>
              <a:t>Our Solution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237629" y="1187450"/>
            <a:ext cx="5704841" cy="1118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3390" lvl="1" indent="-226695" algn="l">
              <a:lnSpc>
                <a:spcPts val="2940"/>
              </a:lnSpc>
              <a:buFont typeface="Arial"/>
              <a:buChar char="•"/>
            </a:pPr>
            <a:r>
              <a:rPr lang="en-US" sz="21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Conduct in-depth Exploratory Data Analysis (EDA) to understand customer behavior.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1237629" y="3182131"/>
            <a:ext cx="5704841" cy="746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3390" lvl="1" indent="-226695" algn="l">
              <a:lnSpc>
                <a:spcPts val="2940"/>
              </a:lnSpc>
              <a:buFont typeface="Arial"/>
              <a:buChar char="•"/>
            </a:pPr>
            <a:r>
              <a:rPr lang="en-US" sz="21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Create an interactive dashboard for business teams to monitor churn.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37629" y="4805059"/>
            <a:ext cx="5704841" cy="746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3390" lvl="1" indent="-226695" algn="l">
              <a:lnSpc>
                <a:spcPts val="2940"/>
              </a:lnSpc>
              <a:buFont typeface="Arial"/>
              <a:buChar char="•"/>
            </a:pPr>
            <a:r>
              <a:rPr lang="en-US" sz="21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Build a predictive model to identify customers at high risk of churn.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1314682" y="6640904"/>
            <a:ext cx="5704841" cy="746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3390" lvl="1" indent="-226695" algn="l">
              <a:lnSpc>
                <a:spcPts val="2940"/>
              </a:lnSpc>
              <a:buFont typeface="Arial"/>
              <a:buChar char="•"/>
            </a:pPr>
            <a:r>
              <a:rPr lang="en-US" sz="21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Develop a Streamlit app to provide real-time churn predictions.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336274" y="8268261"/>
            <a:ext cx="5704841" cy="7467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3390" lvl="1" indent="-226695" algn="l">
              <a:lnSpc>
                <a:spcPts val="2940"/>
              </a:lnSpc>
              <a:buFont typeface="Arial"/>
              <a:buChar char="•"/>
            </a:pPr>
            <a:r>
              <a:rPr lang="en-US" sz="21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Translate findings into clear business recommendations.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4369663" flipH="1" flipV="1">
            <a:off x="-820388" y="6927786"/>
            <a:ext cx="3698177" cy="4114800"/>
          </a:xfrm>
          <a:custGeom>
            <a:avLst/>
            <a:gdLst/>
            <a:ahLst/>
            <a:cxnLst/>
            <a:rect l="l" t="t" r="r" b="b"/>
            <a:pathLst>
              <a:path w="3698177" h="4114800">
                <a:moveTo>
                  <a:pt x="3698176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3698176" y="0"/>
                </a:lnTo>
                <a:lnTo>
                  <a:pt x="3698176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-635569" y="-860425"/>
            <a:ext cx="2682557" cy="3778250"/>
          </a:xfrm>
          <a:custGeom>
            <a:avLst/>
            <a:gdLst/>
            <a:ahLst/>
            <a:cxnLst/>
            <a:rect l="l" t="t" r="r" b="b"/>
            <a:pathLst>
              <a:path w="2682557" h="3778250">
                <a:moveTo>
                  <a:pt x="0" y="0"/>
                </a:moveTo>
                <a:lnTo>
                  <a:pt x="2682558" y="0"/>
                </a:lnTo>
                <a:lnTo>
                  <a:pt x="2682558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 rot="-5077616" flipH="1">
            <a:off x="15410212" y="7268263"/>
            <a:ext cx="3698176" cy="4114800"/>
          </a:xfrm>
          <a:custGeom>
            <a:avLst/>
            <a:gdLst/>
            <a:ahLst/>
            <a:cxnLst/>
            <a:rect l="l" t="t" r="r" b="b"/>
            <a:pathLst>
              <a:path w="3698176" h="4114800">
                <a:moveTo>
                  <a:pt x="3698176" y="0"/>
                </a:moveTo>
                <a:lnTo>
                  <a:pt x="0" y="0"/>
                </a:lnTo>
                <a:lnTo>
                  <a:pt x="0" y="4114800"/>
                </a:lnTo>
                <a:lnTo>
                  <a:pt x="3698176" y="4114800"/>
                </a:lnTo>
                <a:lnTo>
                  <a:pt x="3698176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16798252" y="-2749550"/>
            <a:ext cx="2682557" cy="3778250"/>
          </a:xfrm>
          <a:custGeom>
            <a:avLst/>
            <a:gdLst/>
            <a:ahLst/>
            <a:cxnLst/>
            <a:rect l="l" t="t" r="r" b="b"/>
            <a:pathLst>
              <a:path w="2682557" h="3778250">
                <a:moveTo>
                  <a:pt x="0" y="0"/>
                </a:moveTo>
                <a:lnTo>
                  <a:pt x="2682557" y="0"/>
                </a:lnTo>
                <a:lnTo>
                  <a:pt x="2682557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16950652" y="-2597150"/>
            <a:ext cx="2682557" cy="3778250"/>
          </a:xfrm>
          <a:custGeom>
            <a:avLst/>
            <a:gdLst/>
            <a:ahLst/>
            <a:cxnLst/>
            <a:rect l="l" t="t" r="r" b="b"/>
            <a:pathLst>
              <a:path w="2682557" h="3778250">
                <a:moveTo>
                  <a:pt x="0" y="0"/>
                </a:moveTo>
                <a:lnTo>
                  <a:pt x="2682557" y="0"/>
                </a:lnTo>
                <a:lnTo>
                  <a:pt x="2682557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/>
          <p:cNvSpPr/>
          <p:nvPr/>
        </p:nvSpPr>
        <p:spPr>
          <a:xfrm>
            <a:off x="17103052" y="-2444750"/>
            <a:ext cx="2682557" cy="3778250"/>
          </a:xfrm>
          <a:custGeom>
            <a:avLst/>
            <a:gdLst/>
            <a:ahLst/>
            <a:cxnLst/>
            <a:rect l="l" t="t" r="r" b="b"/>
            <a:pathLst>
              <a:path w="2682557" h="3778250">
                <a:moveTo>
                  <a:pt x="0" y="0"/>
                </a:moveTo>
                <a:lnTo>
                  <a:pt x="2682557" y="0"/>
                </a:lnTo>
                <a:lnTo>
                  <a:pt x="2682557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/>
          <p:cNvSpPr/>
          <p:nvPr/>
        </p:nvSpPr>
        <p:spPr>
          <a:xfrm>
            <a:off x="11573131" y="3603147"/>
            <a:ext cx="5686169" cy="5655153"/>
          </a:xfrm>
          <a:custGeom>
            <a:avLst/>
            <a:gdLst/>
            <a:ahLst/>
            <a:cxnLst/>
            <a:rect l="l" t="t" r="r" b="b"/>
            <a:pathLst>
              <a:path w="5686169" h="5655153">
                <a:moveTo>
                  <a:pt x="0" y="0"/>
                </a:moveTo>
                <a:lnTo>
                  <a:pt x="5686169" y="0"/>
                </a:lnTo>
                <a:lnTo>
                  <a:pt x="5686169" y="5655153"/>
                </a:lnTo>
                <a:lnTo>
                  <a:pt x="0" y="565515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Freeform 9"/>
          <p:cNvSpPr/>
          <p:nvPr/>
        </p:nvSpPr>
        <p:spPr>
          <a:xfrm>
            <a:off x="1228160" y="5817821"/>
            <a:ext cx="3167364" cy="3167364"/>
          </a:xfrm>
          <a:custGeom>
            <a:avLst/>
            <a:gdLst/>
            <a:ahLst/>
            <a:cxnLst/>
            <a:rect l="l" t="t" r="r" b="b"/>
            <a:pathLst>
              <a:path w="3167364" h="3167364">
                <a:moveTo>
                  <a:pt x="0" y="0"/>
                </a:moveTo>
                <a:lnTo>
                  <a:pt x="3167365" y="0"/>
                </a:lnTo>
                <a:lnTo>
                  <a:pt x="3167365" y="3167365"/>
                </a:lnTo>
                <a:lnTo>
                  <a:pt x="0" y="316736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TextBox 10"/>
          <p:cNvSpPr txBox="1"/>
          <p:nvPr/>
        </p:nvSpPr>
        <p:spPr>
          <a:xfrm>
            <a:off x="2046989" y="3565047"/>
            <a:ext cx="8478305" cy="1314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>
                <a:solidFill>
                  <a:srgbClr val="DD5768"/>
                </a:solidFill>
                <a:latin typeface="Poppins"/>
                <a:ea typeface="Poppins"/>
                <a:cs typeface="Poppins"/>
                <a:sym typeface="Poppins"/>
              </a:rPr>
              <a:t>Let’s review the dataset to understand the key features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4369663" flipH="1" flipV="1">
            <a:off x="-792093" y="7779404"/>
            <a:ext cx="3630546" cy="4039550"/>
          </a:xfrm>
          <a:custGeom>
            <a:avLst/>
            <a:gdLst/>
            <a:ahLst/>
            <a:cxnLst/>
            <a:rect l="l" t="t" r="r" b="b"/>
            <a:pathLst>
              <a:path w="3630546" h="4039550">
                <a:moveTo>
                  <a:pt x="3630545" y="4039550"/>
                </a:moveTo>
                <a:lnTo>
                  <a:pt x="0" y="4039550"/>
                </a:lnTo>
                <a:lnTo>
                  <a:pt x="0" y="0"/>
                </a:lnTo>
                <a:lnTo>
                  <a:pt x="3630545" y="0"/>
                </a:lnTo>
                <a:lnTo>
                  <a:pt x="3630545" y="403955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-635569" y="-860425"/>
            <a:ext cx="2682557" cy="3778250"/>
          </a:xfrm>
          <a:custGeom>
            <a:avLst/>
            <a:gdLst/>
            <a:ahLst/>
            <a:cxnLst/>
            <a:rect l="l" t="t" r="r" b="b"/>
            <a:pathLst>
              <a:path w="2682557" h="3778250">
                <a:moveTo>
                  <a:pt x="0" y="0"/>
                </a:moveTo>
                <a:lnTo>
                  <a:pt x="2682558" y="0"/>
                </a:lnTo>
                <a:lnTo>
                  <a:pt x="2682558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>
            <a:off x="15397852" y="-1381197"/>
            <a:ext cx="4059190" cy="3482447"/>
          </a:xfrm>
          <a:custGeom>
            <a:avLst/>
            <a:gdLst/>
            <a:ahLst/>
            <a:cxnLst/>
            <a:rect l="l" t="t" r="r" b="b"/>
            <a:pathLst>
              <a:path w="4059190" h="3482447">
                <a:moveTo>
                  <a:pt x="0" y="0"/>
                </a:moveTo>
                <a:lnTo>
                  <a:pt x="4059191" y="0"/>
                </a:lnTo>
                <a:lnTo>
                  <a:pt x="4059191" y="3482447"/>
                </a:lnTo>
                <a:lnTo>
                  <a:pt x="0" y="348244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2422277" y="6822295"/>
            <a:ext cx="3502249" cy="2967360"/>
          </a:xfrm>
          <a:custGeom>
            <a:avLst/>
            <a:gdLst/>
            <a:ahLst/>
            <a:cxnLst/>
            <a:rect l="l" t="t" r="r" b="b"/>
            <a:pathLst>
              <a:path w="3502249" h="2967360">
                <a:moveTo>
                  <a:pt x="0" y="0"/>
                </a:moveTo>
                <a:lnTo>
                  <a:pt x="3502249" y="0"/>
                </a:lnTo>
                <a:lnTo>
                  <a:pt x="3502249" y="2967359"/>
                </a:lnTo>
                <a:lnTo>
                  <a:pt x="0" y="2967359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TextBox 6"/>
          <p:cNvSpPr txBox="1"/>
          <p:nvPr/>
        </p:nvSpPr>
        <p:spPr>
          <a:xfrm>
            <a:off x="2046989" y="1263650"/>
            <a:ext cx="4325390" cy="581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1">
                <a:solidFill>
                  <a:srgbClr val="E74D61"/>
                </a:solidFill>
                <a:latin typeface="Poppins Bold"/>
                <a:ea typeface="Poppins Bold"/>
                <a:cs typeface="Poppins Bold"/>
                <a:sym typeface="Poppins Bold"/>
              </a:rPr>
              <a:t>Dataset Overview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046989" y="2277246"/>
            <a:ext cx="4373612" cy="4248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18160" lvl="1" indent="-259080" algn="ctr">
              <a:lnSpc>
                <a:spcPts val="3359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Total customers: </a:t>
            </a:r>
            <a:r>
              <a:rPr lang="en-US" sz="2400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440,832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2586586" y="2277246"/>
            <a:ext cx="3103007" cy="4248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18160" lvl="1" indent="-259080" algn="ctr">
              <a:lnSpc>
                <a:spcPts val="3359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Total Features: </a:t>
            </a:r>
            <a:r>
              <a:rPr lang="en-US" sz="2400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12</a:t>
            </a:r>
          </a:p>
        </p:txBody>
      </p:sp>
      <p:sp>
        <p:nvSpPr>
          <p:cNvPr id="9" name="Freeform 9"/>
          <p:cNvSpPr/>
          <p:nvPr/>
        </p:nvSpPr>
        <p:spPr>
          <a:xfrm>
            <a:off x="12189678" y="3413125"/>
            <a:ext cx="3584596" cy="3037130"/>
          </a:xfrm>
          <a:custGeom>
            <a:avLst/>
            <a:gdLst/>
            <a:ahLst/>
            <a:cxnLst/>
            <a:rect l="l" t="t" r="r" b="b"/>
            <a:pathLst>
              <a:path w="3584596" h="3037130">
                <a:moveTo>
                  <a:pt x="0" y="0"/>
                </a:moveTo>
                <a:lnTo>
                  <a:pt x="3584596" y="0"/>
                </a:lnTo>
                <a:lnTo>
                  <a:pt x="3584596" y="3037130"/>
                </a:lnTo>
                <a:lnTo>
                  <a:pt x="0" y="303713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Freeform 10"/>
          <p:cNvSpPr/>
          <p:nvPr/>
        </p:nvSpPr>
        <p:spPr>
          <a:xfrm>
            <a:off x="2339930" y="3413125"/>
            <a:ext cx="3584596" cy="3037130"/>
          </a:xfrm>
          <a:custGeom>
            <a:avLst/>
            <a:gdLst/>
            <a:ahLst/>
            <a:cxnLst/>
            <a:rect l="l" t="t" r="r" b="b"/>
            <a:pathLst>
              <a:path w="3584596" h="3037130">
                <a:moveTo>
                  <a:pt x="0" y="0"/>
                </a:moveTo>
                <a:lnTo>
                  <a:pt x="3584596" y="0"/>
                </a:lnTo>
                <a:lnTo>
                  <a:pt x="3584596" y="3037130"/>
                </a:lnTo>
                <a:lnTo>
                  <a:pt x="0" y="303713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1" name="TextBox 11"/>
          <p:cNvSpPr txBox="1"/>
          <p:nvPr/>
        </p:nvSpPr>
        <p:spPr>
          <a:xfrm>
            <a:off x="2462311" y="3857525"/>
            <a:ext cx="3231370" cy="3532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</a:pPr>
            <a:r>
              <a:rPr lang="en-US" sz="1963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Customer Information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422277" y="4662942"/>
            <a:ext cx="1966390" cy="6400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8620" lvl="1" indent="-194310" algn="l">
              <a:lnSpc>
                <a:spcPts val="2520"/>
              </a:lnSpc>
              <a:buFont typeface="Arial"/>
              <a:buChar char="•"/>
            </a:pPr>
            <a:r>
              <a:rPr lang="en-US" sz="1800">
                <a:solidFill>
                  <a:srgbClr val="E74D61"/>
                </a:solidFill>
                <a:latin typeface="Poppins"/>
                <a:ea typeface="Poppins"/>
                <a:cs typeface="Poppins"/>
                <a:sym typeface="Poppins"/>
              </a:rPr>
              <a:t>Gender </a:t>
            </a:r>
          </a:p>
          <a:p>
            <a:pPr marL="388620" lvl="1" indent="-194310" algn="l">
              <a:lnSpc>
                <a:spcPts val="2520"/>
              </a:lnSpc>
              <a:buFont typeface="Arial"/>
              <a:buChar char="•"/>
            </a:pPr>
            <a:r>
              <a:rPr lang="en-US" sz="1800">
                <a:solidFill>
                  <a:srgbClr val="E74D61"/>
                </a:solidFill>
                <a:latin typeface="Poppins"/>
                <a:ea typeface="Poppins"/>
                <a:cs typeface="Poppins"/>
                <a:sym typeface="Poppins"/>
              </a:rPr>
              <a:t>Age</a:t>
            </a:r>
          </a:p>
        </p:txBody>
      </p:sp>
      <p:sp>
        <p:nvSpPr>
          <p:cNvPr id="13" name="Freeform 13"/>
          <p:cNvSpPr/>
          <p:nvPr/>
        </p:nvSpPr>
        <p:spPr>
          <a:xfrm>
            <a:off x="7435169" y="3413125"/>
            <a:ext cx="3584596" cy="3037130"/>
          </a:xfrm>
          <a:custGeom>
            <a:avLst/>
            <a:gdLst/>
            <a:ahLst/>
            <a:cxnLst/>
            <a:rect l="l" t="t" r="r" b="b"/>
            <a:pathLst>
              <a:path w="3584596" h="3037130">
                <a:moveTo>
                  <a:pt x="0" y="0"/>
                </a:moveTo>
                <a:lnTo>
                  <a:pt x="3584596" y="0"/>
                </a:lnTo>
                <a:lnTo>
                  <a:pt x="3584596" y="3037130"/>
                </a:lnTo>
                <a:lnTo>
                  <a:pt x="0" y="303713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4"/>
          <p:cNvSpPr txBox="1"/>
          <p:nvPr/>
        </p:nvSpPr>
        <p:spPr>
          <a:xfrm>
            <a:off x="7435169" y="3562014"/>
            <a:ext cx="3584596" cy="7785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23"/>
              </a:lnSpc>
              <a:spcBef>
                <a:spcPct val="0"/>
              </a:spcBef>
            </a:pPr>
            <a:r>
              <a:rPr lang="en-US" sz="215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Account &amp; Contract Details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599826" y="4448083"/>
            <a:ext cx="2925970" cy="12687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8620" lvl="1" indent="-194310" algn="l">
              <a:lnSpc>
                <a:spcPts val="2520"/>
              </a:lnSpc>
              <a:buFont typeface="Arial"/>
              <a:buChar char="•"/>
            </a:pPr>
            <a:r>
              <a:rPr lang="en-US" sz="1800">
                <a:solidFill>
                  <a:srgbClr val="E74D61"/>
                </a:solidFill>
                <a:latin typeface="Poppins"/>
                <a:ea typeface="Poppins"/>
                <a:cs typeface="Poppins"/>
                <a:sym typeface="Poppins"/>
              </a:rPr>
              <a:t>CustomerID</a:t>
            </a:r>
          </a:p>
          <a:p>
            <a:pPr marL="388620" lvl="1" indent="-194310" algn="l">
              <a:lnSpc>
                <a:spcPts val="2520"/>
              </a:lnSpc>
              <a:buFont typeface="Arial"/>
              <a:buChar char="•"/>
            </a:pPr>
            <a:r>
              <a:rPr lang="en-US" sz="1800">
                <a:solidFill>
                  <a:srgbClr val="E74D61"/>
                </a:solidFill>
                <a:latin typeface="Poppins"/>
                <a:ea typeface="Poppins"/>
                <a:cs typeface="Poppins"/>
                <a:sym typeface="Poppins"/>
              </a:rPr>
              <a:t>Subscription Type</a:t>
            </a:r>
          </a:p>
          <a:p>
            <a:pPr marL="388620" lvl="1" indent="-194310" algn="l">
              <a:lnSpc>
                <a:spcPts val="2520"/>
              </a:lnSpc>
              <a:buFont typeface="Arial"/>
              <a:buChar char="•"/>
            </a:pPr>
            <a:r>
              <a:rPr lang="en-US" sz="1800">
                <a:solidFill>
                  <a:srgbClr val="E74D61"/>
                </a:solidFill>
                <a:latin typeface="Poppins"/>
                <a:ea typeface="Poppins"/>
                <a:cs typeface="Poppins"/>
                <a:sym typeface="Poppins"/>
              </a:rPr>
              <a:t>Contract Length</a:t>
            </a:r>
          </a:p>
          <a:p>
            <a:pPr marL="388620" lvl="1" indent="-194310" algn="l">
              <a:lnSpc>
                <a:spcPts val="2520"/>
              </a:lnSpc>
              <a:buFont typeface="Arial"/>
              <a:buChar char="•"/>
            </a:pPr>
            <a:r>
              <a:rPr lang="en-US" sz="1800">
                <a:solidFill>
                  <a:srgbClr val="E74D61"/>
                </a:solidFill>
                <a:latin typeface="Poppins"/>
                <a:ea typeface="Poppins"/>
                <a:cs typeface="Poppins"/>
                <a:sym typeface="Poppins"/>
              </a:rPr>
              <a:t>Tenure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189678" y="3562014"/>
            <a:ext cx="3310169" cy="395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23"/>
              </a:lnSpc>
              <a:spcBef>
                <a:spcPct val="0"/>
              </a:spcBef>
            </a:pPr>
            <a:r>
              <a:rPr lang="en-US" sz="215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Service Usage Behavior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356011" y="4662942"/>
            <a:ext cx="2372618" cy="6400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8620" lvl="1" indent="-194310" algn="l">
              <a:lnSpc>
                <a:spcPts val="2520"/>
              </a:lnSpc>
              <a:buFont typeface="Arial"/>
              <a:buChar char="•"/>
            </a:pPr>
            <a:r>
              <a:rPr lang="en-US" sz="1800">
                <a:solidFill>
                  <a:srgbClr val="E74D61"/>
                </a:solidFill>
                <a:latin typeface="Poppins"/>
                <a:ea typeface="Poppins"/>
                <a:cs typeface="Poppins"/>
                <a:sym typeface="Poppins"/>
              </a:rPr>
              <a:t>Usage Frequency</a:t>
            </a:r>
          </a:p>
          <a:p>
            <a:pPr marL="388620" lvl="1" indent="-194310" algn="l">
              <a:lnSpc>
                <a:spcPts val="2520"/>
              </a:lnSpc>
              <a:buFont typeface="Arial"/>
              <a:buChar char="•"/>
            </a:pPr>
            <a:r>
              <a:rPr lang="en-US" sz="1800">
                <a:solidFill>
                  <a:srgbClr val="E74D61"/>
                </a:solidFill>
                <a:latin typeface="Poppins"/>
                <a:ea typeface="Poppins"/>
                <a:cs typeface="Poppins"/>
                <a:sym typeface="Poppins"/>
              </a:rPr>
              <a:t>Last Interaction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2529577" y="7150347"/>
            <a:ext cx="3096839" cy="395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23"/>
              </a:lnSpc>
              <a:spcBef>
                <a:spcPct val="0"/>
              </a:spcBef>
            </a:pPr>
            <a:r>
              <a:rPr lang="en-US" sz="215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Billing &amp; Payment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2529577" y="7965288"/>
            <a:ext cx="2114848" cy="6400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8620" lvl="1" indent="-194310" algn="l">
              <a:lnSpc>
                <a:spcPts val="2520"/>
              </a:lnSpc>
              <a:buFont typeface="Arial"/>
              <a:buChar char="•"/>
            </a:pPr>
            <a:r>
              <a:rPr lang="en-US" sz="1800">
                <a:solidFill>
                  <a:srgbClr val="E74D61"/>
                </a:solidFill>
                <a:latin typeface="Poppins"/>
                <a:ea typeface="Poppins"/>
                <a:cs typeface="Poppins"/>
                <a:sym typeface="Poppins"/>
              </a:rPr>
              <a:t>Total Spend</a:t>
            </a:r>
          </a:p>
          <a:p>
            <a:pPr marL="388620" lvl="1" indent="-194310" algn="l">
              <a:lnSpc>
                <a:spcPts val="2520"/>
              </a:lnSpc>
              <a:buFont typeface="Arial"/>
              <a:buChar char="•"/>
            </a:pPr>
            <a:r>
              <a:rPr lang="en-US" sz="1800">
                <a:solidFill>
                  <a:srgbClr val="E74D61"/>
                </a:solidFill>
                <a:latin typeface="Poppins"/>
                <a:ea typeface="Poppins"/>
                <a:cs typeface="Poppins"/>
                <a:sym typeface="Poppins"/>
              </a:rPr>
              <a:t>Payment Delay</a:t>
            </a:r>
          </a:p>
        </p:txBody>
      </p:sp>
      <p:sp>
        <p:nvSpPr>
          <p:cNvPr id="20" name="Freeform 20"/>
          <p:cNvSpPr/>
          <p:nvPr/>
        </p:nvSpPr>
        <p:spPr>
          <a:xfrm>
            <a:off x="7435169" y="6822295"/>
            <a:ext cx="3584596" cy="3037130"/>
          </a:xfrm>
          <a:custGeom>
            <a:avLst/>
            <a:gdLst/>
            <a:ahLst/>
            <a:cxnLst/>
            <a:rect l="l" t="t" r="r" b="b"/>
            <a:pathLst>
              <a:path w="3584596" h="3037130">
                <a:moveTo>
                  <a:pt x="0" y="0"/>
                </a:moveTo>
                <a:lnTo>
                  <a:pt x="3584596" y="0"/>
                </a:lnTo>
                <a:lnTo>
                  <a:pt x="3584596" y="3037130"/>
                </a:lnTo>
                <a:lnTo>
                  <a:pt x="0" y="303713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1" name="TextBox 21"/>
          <p:cNvSpPr txBox="1"/>
          <p:nvPr/>
        </p:nvSpPr>
        <p:spPr>
          <a:xfrm>
            <a:off x="7435169" y="7150347"/>
            <a:ext cx="3584596" cy="7785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23"/>
              </a:lnSpc>
              <a:spcBef>
                <a:spcPct val="0"/>
              </a:spcBef>
            </a:pPr>
            <a:r>
              <a:rPr lang="en-US" sz="215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Customer Support Interaction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7599826" y="8165084"/>
            <a:ext cx="2925970" cy="325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8620" lvl="1" indent="-194310" algn="l">
              <a:lnSpc>
                <a:spcPts val="2520"/>
              </a:lnSpc>
              <a:buFont typeface="Arial"/>
              <a:buChar char="•"/>
            </a:pPr>
            <a:r>
              <a:rPr lang="en-US" sz="1800">
                <a:solidFill>
                  <a:srgbClr val="E74D61"/>
                </a:solidFill>
                <a:latin typeface="Poppins"/>
                <a:ea typeface="Poppins"/>
                <a:cs typeface="Poppins"/>
                <a:sym typeface="Poppins"/>
              </a:rPr>
              <a:t>Support Calls</a:t>
            </a:r>
          </a:p>
        </p:txBody>
      </p:sp>
      <p:sp>
        <p:nvSpPr>
          <p:cNvPr id="23" name="Freeform 23"/>
          <p:cNvSpPr/>
          <p:nvPr/>
        </p:nvSpPr>
        <p:spPr>
          <a:xfrm>
            <a:off x="12356011" y="6833639"/>
            <a:ext cx="3584596" cy="3037130"/>
          </a:xfrm>
          <a:custGeom>
            <a:avLst/>
            <a:gdLst/>
            <a:ahLst/>
            <a:cxnLst/>
            <a:rect l="l" t="t" r="r" b="b"/>
            <a:pathLst>
              <a:path w="3584596" h="3037130">
                <a:moveTo>
                  <a:pt x="0" y="0"/>
                </a:moveTo>
                <a:lnTo>
                  <a:pt x="3584596" y="0"/>
                </a:lnTo>
                <a:lnTo>
                  <a:pt x="3584596" y="3037130"/>
                </a:lnTo>
                <a:lnTo>
                  <a:pt x="0" y="303713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4" name="TextBox 24"/>
          <p:cNvSpPr txBox="1"/>
          <p:nvPr/>
        </p:nvSpPr>
        <p:spPr>
          <a:xfrm>
            <a:off x="12356011" y="7150347"/>
            <a:ext cx="3584596" cy="395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23"/>
              </a:lnSpc>
              <a:spcBef>
                <a:spcPct val="0"/>
              </a:spcBef>
            </a:pPr>
            <a:r>
              <a:rPr lang="en-US" sz="215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Target Variable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2534597" y="8092666"/>
            <a:ext cx="2925970" cy="325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8620" lvl="1" indent="-194310" algn="l">
              <a:lnSpc>
                <a:spcPts val="2520"/>
              </a:lnSpc>
              <a:buFont typeface="Arial"/>
              <a:buChar char="•"/>
            </a:pPr>
            <a:r>
              <a:rPr lang="en-US" sz="1800">
                <a:solidFill>
                  <a:srgbClr val="E74D61"/>
                </a:solidFill>
                <a:latin typeface="Poppins"/>
                <a:ea typeface="Poppins"/>
                <a:cs typeface="Poppins"/>
                <a:sym typeface="Poppins"/>
              </a:rPr>
              <a:t>Churn (Yes/No)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4369663" flipH="1" flipV="1">
            <a:off x="-820388" y="6927786"/>
            <a:ext cx="3698177" cy="4114800"/>
          </a:xfrm>
          <a:custGeom>
            <a:avLst/>
            <a:gdLst/>
            <a:ahLst/>
            <a:cxnLst/>
            <a:rect l="l" t="t" r="r" b="b"/>
            <a:pathLst>
              <a:path w="3698177" h="4114800">
                <a:moveTo>
                  <a:pt x="3698176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3698176" y="0"/>
                </a:lnTo>
                <a:lnTo>
                  <a:pt x="3698176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-635569" y="-860425"/>
            <a:ext cx="2682557" cy="3778250"/>
          </a:xfrm>
          <a:custGeom>
            <a:avLst/>
            <a:gdLst/>
            <a:ahLst/>
            <a:cxnLst/>
            <a:rect l="l" t="t" r="r" b="b"/>
            <a:pathLst>
              <a:path w="2682557" h="3778250">
                <a:moveTo>
                  <a:pt x="0" y="0"/>
                </a:moveTo>
                <a:lnTo>
                  <a:pt x="2682558" y="0"/>
                </a:lnTo>
                <a:lnTo>
                  <a:pt x="2682558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 rot="-5077616" flipH="1">
            <a:off x="15410212" y="7268263"/>
            <a:ext cx="3698176" cy="4114800"/>
          </a:xfrm>
          <a:custGeom>
            <a:avLst/>
            <a:gdLst/>
            <a:ahLst/>
            <a:cxnLst/>
            <a:rect l="l" t="t" r="r" b="b"/>
            <a:pathLst>
              <a:path w="3698176" h="4114800">
                <a:moveTo>
                  <a:pt x="3698176" y="0"/>
                </a:moveTo>
                <a:lnTo>
                  <a:pt x="0" y="0"/>
                </a:lnTo>
                <a:lnTo>
                  <a:pt x="0" y="4114800"/>
                </a:lnTo>
                <a:lnTo>
                  <a:pt x="3698176" y="4114800"/>
                </a:lnTo>
                <a:lnTo>
                  <a:pt x="3698176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16798252" y="-2749550"/>
            <a:ext cx="2682557" cy="3778250"/>
          </a:xfrm>
          <a:custGeom>
            <a:avLst/>
            <a:gdLst/>
            <a:ahLst/>
            <a:cxnLst/>
            <a:rect l="l" t="t" r="r" b="b"/>
            <a:pathLst>
              <a:path w="2682557" h="3778250">
                <a:moveTo>
                  <a:pt x="0" y="0"/>
                </a:moveTo>
                <a:lnTo>
                  <a:pt x="2682557" y="0"/>
                </a:lnTo>
                <a:lnTo>
                  <a:pt x="2682557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9705504" y="3488648"/>
            <a:ext cx="7092747" cy="4997401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1230832" y="3441023"/>
            <a:ext cx="7913168" cy="1495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59"/>
              </a:lnSpc>
            </a:pPr>
            <a:r>
              <a:rPr lang="en-US" sz="4800">
                <a:solidFill>
                  <a:srgbClr val="DD5768"/>
                </a:solidFill>
                <a:latin typeface="Poppins"/>
                <a:ea typeface="Poppins"/>
                <a:cs typeface="Poppins"/>
                <a:sym typeface="Poppins"/>
              </a:rPr>
              <a:t>Next, let’s take a look at our findings.</a:t>
            </a:r>
          </a:p>
        </p:txBody>
      </p:sp>
      <p:sp>
        <p:nvSpPr>
          <p:cNvPr id="8" name="Freeform 8"/>
          <p:cNvSpPr/>
          <p:nvPr/>
        </p:nvSpPr>
        <p:spPr>
          <a:xfrm>
            <a:off x="16950652" y="-2597150"/>
            <a:ext cx="2682557" cy="3778250"/>
          </a:xfrm>
          <a:custGeom>
            <a:avLst/>
            <a:gdLst/>
            <a:ahLst/>
            <a:cxnLst/>
            <a:rect l="l" t="t" r="r" b="b"/>
            <a:pathLst>
              <a:path w="2682557" h="3778250">
                <a:moveTo>
                  <a:pt x="0" y="0"/>
                </a:moveTo>
                <a:lnTo>
                  <a:pt x="2682557" y="0"/>
                </a:lnTo>
                <a:lnTo>
                  <a:pt x="2682557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Freeform 9"/>
          <p:cNvSpPr/>
          <p:nvPr/>
        </p:nvSpPr>
        <p:spPr>
          <a:xfrm>
            <a:off x="17103052" y="-2444750"/>
            <a:ext cx="2682557" cy="3778250"/>
          </a:xfrm>
          <a:custGeom>
            <a:avLst/>
            <a:gdLst/>
            <a:ahLst/>
            <a:cxnLst/>
            <a:rect l="l" t="t" r="r" b="b"/>
            <a:pathLst>
              <a:path w="2682557" h="3778250">
                <a:moveTo>
                  <a:pt x="0" y="0"/>
                </a:moveTo>
                <a:lnTo>
                  <a:pt x="2682557" y="0"/>
                </a:lnTo>
                <a:lnTo>
                  <a:pt x="2682557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4369663" flipH="1" flipV="1">
            <a:off x="-820388" y="6927786"/>
            <a:ext cx="3698177" cy="4114800"/>
          </a:xfrm>
          <a:custGeom>
            <a:avLst/>
            <a:gdLst/>
            <a:ahLst/>
            <a:cxnLst/>
            <a:rect l="l" t="t" r="r" b="b"/>
            <a:pathLst>
              <a:path w="3698177" h="4114800">
                <a:moveTo>
                  <a:pt x="3698176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3698176" y="0"/>
                </a:lnTo>
                <a:lnTo>
                  <a:pt x="3698176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-635569" y="-860425"/>
            <a:ext cx="2682557" cy="3778250"/>
          </a:xfrm>
          <a:custGeom>
            <a:avLst/>
            <a:gdLst/>
            <a:ahLst/>
            <a:cxnLst/>
            <a:rect l="l" t="t" r="r" b="b"/>
            <a:pathLst>
              <a:path w="2682557" h="3778250">
                <a:moveTo>
                  <a:pt x="0" y="0"/>
                </a:moveTo>
                <a:lnTo>
                  <a:pt x="2682558" y="0"/>
                </a:lnTo>
                <a:lnTo>
                  <a:pt x="2682558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 rot="-5077616" flipH="1">
            <a:off x="15410212" y="7268263"/>
            <a:ext cx="3698176" cy="4114800"/>
          </a:xfrm>
          <a:custGeom>
            <a:avLst/>
            <a:gdLst/>
            <a:ahLst/>
            <a:cxnLst/>
            <a:rect l="l" t="t" r="r" b="b"/>
            <a:pathLst>
              <a:path w="3698176" h="4114800">
                <a:moveTo>
                  <a:pt x="3698176" y="0"/>
                </a:moveTo>
                <a:lnTo>
                  <a:pt x="0" y="0"/>
                </a:lnTo>
                <a:lnTo>
                  <a:pt x="0" y="4114800"/>
                </a:lnTo>
                <a:lnTo>
                  <a:pt x="3698176" y="4114800"/>
                </a:lnTo>
                <a:lnTo>
                  <a:pt x="3698176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16798252" y="-2749550"/>
            <a:ext cx="2682557" cy="3778250"/>
          </a:xfrm>
          <a:custGeom>
            <a:avLst/>
            <a:gdLst/>
            <a:ahLst/>
            <a:cxnLst/>
            <a:rect l="l" t="t" r="r" b="b"/>
            <a:pathLst>
              <a:path w="2682557" h="3778250">
                <a:moveTo>
                  <a:pt x="0" y="0"/>
                </a:moveTo>
                <a:lnTo>
                  <a:pt x="2682557" y="0"/>
                </a:lnTo>
                <a:lnTo>
                  <a:pt x="2682557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16950652" y="-2597150"/>
            <a:ext cx="2682557" cy="3778250"/>
          </a:xfrm>
          <a:custGeom>
            <a:avLst/>
            <a:gdLst/>
            <a:ahLst/>
            <a:cxnLst/>
            <a:rect l="l" t="t" r="r" b="b"/>
            <a:pathLst>
              <a:path w="2682557" h="3778250">
                <a:moveTo>
                  <a:pt x="0" y="0"/>
                </a:moveTo>
                <a:lnTo>
                  <a:pt x="2682557" y="0"/>
                </a:lnTo>
                <a:lnTo>
                  <a:pt x="2682557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/>
          <p:cNvSpPr/>
          <p:nvPr/>
        </p:nvSpPr>
        <p:spPr>
          <a:xfrm>
            <a:off x="17103052" y="-2444750"/>
            <a:ext cx="2682557" cy="3778250"/>
          </a:xfrm>
          <a:custGeom>
            <a:avLst/>
            <a:gdLst/>
            <a:ahLst/>
            <a:cxnLst/>
            <a:rect l="l" t="t" r="r" b="b"/>
            <a:pathLst>
              <a:path w="2682557" h="3778250">
                <a:moveTo>
                  <a:pt x="0" y="0"/>
                </a:moveTo>
                <a:lnTo>
                  <a:pt x="2682557" y="0"/>
                </a:lnTo>
                <a:lnTo>
                  <a:pt x="2682557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/>
          <p:cNvSpPr/>
          <p:nvPr/>
        </p:nvSpPr>
        <p:spPr>
          <a:xfrm>
            <a:off x="8531256" y="2233366"/>
            <a:ext cx="9608275" cy="5058679"/>
          </a:xfrm>
          <a:custGeom>
            <a:avLst/>
            <a:gdLst/>
            <a:ahLst/>
            <a:cxnLst/>
            <a:rect l="l" t="t" r="r" b="b"/>
            <a:pathLst>
              <a:path w="9608275" h="5058679">
                <a:moveTo>
                  <a:pt x="0" y="0"/>
                </a:moveTo>
                <a:lnTo>
                  <a:pt x="9608274" y="0"/>
                </a:lnTo>
                <a:lnTo>
                  <a:pt x="9608274" y="5058678"/>
                </a:lnTo>
                <a:lnTo>
                  <a:pt x="0" y="505867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1991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TextBox 9"/>
          <p:cNvSpPr txBox="1"/>
          <p:nvPr/>
        </p:nvSpPr>
        <p:spPr>
          <a:xfrm>
            <a:off x="1230832" y="3857830"/>
            <a:ext cx="7913168" cy="13464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28"/>
              </a:lnSpc>
            </a:pPr>
            <a:r>
              <a:rPr lang="en-US" sz="24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Our data shows a churn rate of 56.7%, which is exceptionally high and indicates a significant risk of losing more than half of our customer base.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4369663" flipH="1" flipV="1">
            <a:off x="-820388" y="6927786"/>
            <a:ext cx="3698177" cy="4114800"/>
          </a:xfrm>
          <a:custGeom>
            <a:avLst/>
            <a:gdLst/>
            <a:ahLst/>
            <a:cxnLst/>
            <a:rect l="l" t="t" r="r" b="b"/>
            <a:pathLst>
              <a:path w="3698177" h="4114800">
                <a:moveTo>
                  <a:pt x="3698176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3698176" y="0"/>
                </a:lnTo>
                <a:lnTo>
                  <a:pt x="3698176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-635569" y="-860425"/>
            <a:ext cx="2682557" cy="3778250"/>
          </a:xfrm>
          <a:custGeom>
            <a:avLst/>
            <a:gdLst/>
            <a:ahLst/>
            <a:cxnLst/>
            <a:rect l="l" t="t" r="r" b="b"/>
            <a:pathLst>
              <a:path w="2682557" h="3778250">
                <a:moveTo>
                  <a:pt x="0" y="0"/>
                </a:moveTo>
                <a:lnTo>
                  <a:pt x="2682558" y="0"/>
                </a:lnTo>
                <a:lnTo>
                  <a:pt x="2682558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 rot="-5077616" flipH="1">
            <a:off x="15410212" y="7268263"/>
            <a:ext cx="3698176" cy="4114800"/>
          </a:xfrm>
          <a:custGeom>
            <a:avLst/>
            <a:gdLst/>
            <a:ahLst/>
            <a:cxnLst/>
            <a:rect l="l" t="t" r="r" b="b"/>
            <a:pathLst>
              <a:path w="3698176" h="4114800">
                <a:moveTo>
                  <a:pt x="3698176" y="0"/>
                </a:moveTo>
                <a:lnTo>
                  <a:pt x="0" y="0"/>
                </a:lnTo>
                <a:lnTo>
                  <a:pt x="0" y="4114800"/>
                </a:lnTo>
                <a:lnTo>
                  <a:pt x="3698176" y="4114800"/>
                </a:lnTo>
                <a:lnTo>
                  <a:pt x="3698176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16798252" y="-2749550"/>
            <a:ext cx="2682557" cy="3778250"/>
          </a:xfrm>
          <a:custGeom>
            <a:avLst/>
            <a:gdLst/>
            <a:ahLst/>
            <a:cxnLst/>
            <a:rect l="l" t="t" r="r" b="b"/>
            <a:pathLst>
              <a:path w="2682557" h="3778250">
                <a:moveTo>
                  <a:pt x="0" y="0"/>
                </a:moveTo>
                <a:lnTo>
                  <a:pt x="2682557" y="0"/>
                </a:lnTo>
                <a:lnTo>
                  <a:pt x="2682557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16950652" y="-2597150"/>
            <a:ext cx="2682557" cy="3778250"/>
          </a:xfrm>
          <a:custGeom>
            <a:avLst/>
            <a:gdLst/>
            <a:ahLst/>
            <a:cxnLst/>
            <a:rect l="l" t="t" r="r" b="b"/>
            <a:pathLst>
              <a:path w="2682557" h="3778250">
                <a:moveTo>
                  <a:pt x="0" y="0"/>
                </a:moveTo>
                <a:lnTo>
                  <a:pt x="2682557" y="0"/>
                </a:lnTo>
                <a:lnTo>
                  <a:pt x="2682557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/>
          <p:cNvSpPr/>
          <p:nvPr/>
        </p:nvSpPr>
        <p:spPr>
          <a:xfrm>
            <a:off x="17103052" y="-2444750"/>
            <a:ext cx="2682557" cy="3778250"/>
          </a:xfrm>
          <a:custGeom>
            <a:avLst/>
            <a:gdLst/>
            <a:ahLst/>
            <a:cxnLst/>
            <a:rect l="l" t="t" r="r" b="b"/>
            <a:pathLst>
              <a:path w="2682557" h="3778250">
                <a:moveTo>
                  <a:pt x="0" y="0"/>
                </a:moveTo>
                <a:lnTo>
                  <a:pt x="2682557" y="0"/>
                </a:lnTo>
                <a:lnTo>
                  <a:pt x="2682557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/>
          <p:cNvSpPr/>
          <p:nvPr/>
        </p:nvSpPr>
        <p:spPr>
          <a:xfrm>
            <a:off x="3938245" y="4702572"/>
            <a:ext cx="10411510" cy="4282614"/>
          </a:xfrm>
          <a:custGeom>
            <a:avLst/>
            <a:gdLst/>
            <a:ahLst/>
            <a:cxnLst/>
            <a:rect l="l" t="t" r="r" b="b"/>
            <a:pathLst>
              <a:path w="10411510" h="4282614">
                <a:moveTo>
                  <a:pt x="0" y="0"/>
                </a:moveTo>
                <a:lnTo>
                  <a:pt x="10411510" y="0"/>
                </a:lnTo>
                <a:lnTo>
                  <a:pt x="10411510" y="4282614"/>
                </a:lnTo>
                <a:lnTo>
                  <a:pt x="0" y="428261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TextBox 9"/>
          <p:cNvSpPr txBox="1"/>
          <p:nvPr/>
        </p:nvSpPr>
        <p:spPr>
          <a:xfrm>
            <a:off x="2178622" y="1746250"/>
            <a:ext cx="13930757" cy="20924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Contract Length</a:t>
            </a:r>
          </a:p>
          <a:p>
            <a:pPr algn="l">
              <a:lnSpc>
                <a:spcPts val="5759"/>
              </a:lnSpc>
            </a:pPr>
            <a:endParaRPr lang="en-US" sz="32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l">
              <a:lnSpc>
                <a:spcPts val="3528"/>
              </a:lnSpc>
            </a:pPr>
            <a:r>
              <a:rPr lang="en-US" sz="24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Our data shows that nearly all customers on a monthly contract type churned, while those on quarterly or annual contracts churned at a 46% rate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4369663" flipH="1" flipV="1">
            <a:off x="-820388" y="6927786"/>
            <a:ext cx="3698177" cy="4114800"/>
          </a:xfrm>
          <a:custGeom>
            <a:avLst/>
            <a:gdLst/>
            <a:ahLst/>
            <a:cxnLst/>
            <a:rect l="l" t="t" r="r" b="b"/>
            <a:pathLst>
              <a:path w="3698177" h="4114800">
                <a:moveTo>
                  <a:pt x="3698176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3698176" y="0"/>
                </a:lnTo>
                <a:lnTo>
                  <a:pt x="3698176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-635569" y="-860425"/>
            <a:ext cx="2682557" cy="3778250"/>
          </a:xfrm>
          <a:custGeom>
            <a:avLst/>
            <a:gdLst/>
            <a:ahLst/>
            <a:cxnLst/>
            <a:rect l="l" t="t" r="r" b="b"/>
            <a:pathLst>
              <a:path w="2682557" h="3778250">
                <a:moveTo>
                  <a:pt x="0" y="0"/>
                </a:moveTo>
                <a:lnTo>
                  <a:pt x="2682558" y="0"/>
                </a:lnTo>
                <a:lnTo>
                  <a:pt x="2682558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 rot="-5077616" flipH="1">
            <a:off x="15410212" y="7268263"/>
            <a:ext cx="3698176" cy="4114800"/>
          </a:xfrm>
          <a:custGeom>
            <a:avLst/>
            <a:gdLst/>
            <a:ahLst/>
            <a:cxnLst/>
            <a:rect l="l" t="t" r="r" b="b"/>
            <a:pathLst>
              <a:path w="3698176" h="4114800">
                <a:moveTo>
                  <a:pt x="3698176" y="0"/>
                </a:moveTo>
                <a:lnTo>
                  <a:pt x="0" y="0"/>
                </a:lnTo>
                <a:lnTo>
                  <a:pt x="0" y="4114800"/>
                </a:lnTo>
                <a:lnTo>
                  <a:pt x="3698176" y="4114800"/>
                </a:lnTo>
                <a:lnTo>
                  <a:pt x="3698176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16798252" y="-2749550"/>
            <a:ext cx="2682557" cy="3778250"/>
          </a:xfrm>
          <a:custGeom>
            <a:avLst/>
            <a:gdLst/>
            <a:ahLst/>
            <a:cxnLst/>
            <a:rect l="l" t="t" r="r" b="b"/>
            <a:pathLst>
              <a:path w="2682557" h="3778250">
                <a:moveTo>
                  <a:pt x="0" y="0"/>
                </a:moveTo>
                <a:lnTo>
                  <a:pt x="2682557" y="0"/>
                </a:lnTo>
                <a:lnTo>
                  <a:pt x="2682557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16950652" y="-2597150"/>
            <a:ext cx="2682557" cy="3778250"/>
          </a:xfrm>
          <a:custGeom>
            <a:avLst/>
            <a:gdLst/>
            <a:ahLst/>
            <a:cxnLst/>
            <a:rect l="l" t="t" r="r" b="b"/>
            <a:pathLst>
              <a:path w="2682557" h="3778250">
                <a:moveTo>
                  <a:pt x="0" y="0"/>
                </a:moveTo>
                <a:lnTo>
                  <a:pt x="2682557" y="0"/>
                </a:lnTo>
                <a:lnTo>
                  <a:pt x="2682557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/>
          <p:cNvSpPr/>
          <p:nvPr/>
        </p:nvSpPr>
        <p:spPr>
          <a:xfrm>
            <a:off x="17103052" y="-2444750"/>
            <a:ext cx="2682557" cy="3778250"/>
          </a:xfrm>
          <a:custGeom>
            <a:avLst/>
            <a:gdLst/>
            <a:ahLst/>
            <a:cxnLst/>
            <a:rect l="l" t="t" r="r" b="b"/>
            <a:pathLst>
              <a:path w="2682557" h="3778250">
                <a:moveTo>
                  <a:pt x="0" y="0"/>
                </a:moveTo>
                <a:lnTo>
                  <a:pt x="2682557" y="0"/>
                </a:lnTo>
                <a:lnTo>
                  <a:pt x="2682557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/>
          <p:cNvSpPr/>
          <p:nvPr/>
        </p:nvSpPr>
        <p:spPr>
          <a:xfrm>
            <a:off x="3644679" y="4697998"/>
            <a:ext cx="10998643" cy="4560302"/>
          </a:xfrm>
          <a:custGeom>
            <a:avLst/>
            <a:gdLst/>
            <a:ahLst/>
            <a:cxnLst/>
            <a:rect l="l" t="t" r="r" b="b"/>
            <a:pathLst>
              <a:path w="10998643" h="4560302">
                <a:moveTo>
                  <a:pt x="0" y="0"/>
                </a:moveTo>
                <a:lnTo>
                  <a:pt x="10998642" y="0"/>
                </a:lnTo>
                <a:lnTo>
                  <a:pt x="10998642" y="4560302"/>
                </a:lnTo>
                <a:lnTo>
                  <a:pt x="0" y="456030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870" b="-1477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TextBox 9"/>
          <p:cNvSpPr txBox="1"/>
          <p:nvPr/>
        </p:nvSpPr>
        <p:spPr>
          <a:xfrm>
            <a:off x="2261120" y="1536700"/>
            <a:ext cx="14387770" cy="2102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Support Calls</a:t>
            </a:r>
          </a:p>
          <a:p>
            <a:pPr algn="l">
              <a:lnSpc>
                <a:spcPts val="5759"/>
              </a:lnSpc>
            </a:pPr>
            <a:endParaRPr lang="en-US" sz="32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l">
              <a:lnSpc>
                <a:spcPts val="3672"/>
              </a:lnSpc>
            </a:pPr>
            <a:r>
              <a:rPr lang="en-US" sz="24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➡ All customers who recorded more than five support calls ended up churning, with no exceptions — highlighting a critical dissatisfaction pattern among high-contact users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4369663" flipH="1" flipV="1">
            <a:off x="-820388" y="6927786"/>
            <a:ext cx="3698177" cy="4114800"/>
          </a:xfrm>
          <a:custGeom>
            <a:avLst/>
            <a:gdLst/>
            <a:ahLst/>
            <a:cxnLst/>
            <a:rect l="l" t="t" r="r" b="b"/>
            <a:pathLst>
              <a:path w="3698177" h="4114800">
                <a:moveTo>
                  <a:pt x="3698176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3698176" y="0"/>
                </a:lnTo>
                <a:lnTo>
                  <a:pt x="3698176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-635569" y="-860425"/>
            <a:ext cx="2682557" cy="3778250"/>
          </a:xfrm>
          <a:custGeom>
            <a:avLst/>
            <a:gdLst/>
            <a:ahLst/>
            <a:cxnLst/>
            <a:rect l="l" t="t" r="r" b="b"/>
            <a:pathLst>
              <a:path w="2682557" h="3778250">
                <a:moveTo>
                  <a:pt x="0" y="0"/>
                </a:moveTo>
                <a:lnTo>
                  <a:pt x="2682558" y="0"/>
                </a:lnTo>
                <a:lnTo>
                  <a:pt x="2682558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 rot="-5077616" flipH="1">
            <a:off x="15410212" y="7268263"/>
            <a:ext cx="3698176" cy="4114800"/>
          </a:xfrm>
          <a:custGeom>
            <a:avLst/>
            <a:gdLst/>
            <a:ahLst/>
            <a:cxnLst/>
            <a:rect l="l" t="t" r="r" b="b"/>
            <a:pathLst>
              <a:path w="3698176" h="4114800">
                <a:moveTo>
                  <a:pt x="3698176" y="0"/>
                </a:moveTo>
                <a:lnTo>
                  <a:pt x="0" y="0"/>
                </a:lnTo>
                <a:lnTo>
                  <a:pt x="0" y="4114800"/>
                </a:lnTo>
                <a:lnTo>
                  <a:pt x="3698176" y="4114800"/>
                </a:lnTo>
                <a:lnTo>
                  <a:pt x="3698176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16798252" y="-2749550"/>
            <a:ext cx="2682557" cy="3778250"/>
          </a:xfrm>
          <a:custGeom>
            <a:avLst/>
            <a:gdLst/>
            <a:ahLst/>
            <a:cxnLst/>
            <a:rect l="l" t="t" r="r" b="b"/>
            <a:pathLst>
              <a:path w="2682557" h="3778250">
                <a:moveTo>
                  <a:pt x="0" y="0"/>
                </a:moveTo>
                <a:lnTo>
                  <a:pt x="2682557" y="0"/>
                </a:lnTo>
                <a:lnTo>
                  <a:pt x="2682557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16950652" y="-2597150"/>
            <a:ext cx="2682557" cy="3778250"/>
          </a:xfrm>
          <a:custGeom>
            <a:avLst/>
            <a:gdLst/>
            <a:ahLst/>
            <a:cxnLst/>
            <a:rect l="l" t="t" r="r" b="b"/>
            <a:pathLst>
              <a:path w="2682557" h="3778250">
                <a:moveTo>
                  <a:pt x="0" y="0"/>
                </a:moveTo>
                <a:lnTo>
                  <a:pt x="2682557" y="0"/>
                </a:lnTo>
                <a:lnTo>
                  <a:pt x="2682557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/>
          <p:cNvSpPr/>
          <p:nvPr/>
        </p:nvSpPr>
        <p:spPr>
          <a:xfrm>
            <a:off x="17103052" y="-2444750"/>
            <a:ext cx="2682557" cy="3778250"/>
          </a:xfrm>
          <a:custGeom>
            <a:avLst/>
            <a:gdLst/>
            <a:ahLst/>
            <a:cxnLst/>
            <a:rect l="l" t="t" r="r" b="b"/>
            <a:pathLst>
              <a:path w="2682557" h="3778250">
                <a:moveTo>
                  <a:pt x="0" y="0"/>
                </a:moveTo>
                <a:lnTo>
                  <a:pt x="2682557" y="0"/>
                </a:lnTo>
                <a:lnTo>
                  <a:pt x="2682557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/>
          <p:cNvSpPr/>
          <p:nvPr/>
        </p:nvSpPr>
        <p:spPr>
          <a:xfrm>
            <a:off x="3465291" y="4718109"/>
            <a:ext cx="11357419" cy="4540191"/>
          </a:xfrm>
          <a:custGeom>
            <a:avLst/>
            <a:gdLst/>
            <a:ahLst/>
            <a:cxnLst/>
            <a:rect l="l" t="t" r="r" b="b"/>
            <a:pathLst>
              <a:path w="11357419" h="4540191">
                <a:moveTo>
                  <a:pt x="0" y="0"/>
                </a:moveTo>
                <a:lnTo>
                  <a:pt x="11357418" y="0"/>
                </a:lnTo>
                <a:lnTo>
                  <a:pt x="11357418" y="4540191"/>
                </a:lnTo>
                <a:lnTo>
                  <a:pt x="0" y="454019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TextBox 9"/>
          <p:cNvSpPr txBox="1"/>
          <p:nvPr/>
        </p:nvSpPr>
        <p:spPr>
          <a:xfrm>
            <a:off x="1936545" y="1759471"/>
            <a:ext cx="15014106" cy="21198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Total Spend</a:t>
            </a:r>
          </a:p>
          <a:p>
            <a:pPr algn="l">
              <a:lnSpc>
                <a:spcPts val="2879"/>
              </a:lnSpc>
            </a:pPr>
            <a:endParaRPr lang="en-US" sz="32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➡ Revenue Churn rate : 48.6%</a:t>
            </a:r>
          </a:p>
          <a:p>
            <a:pPr algn="l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➡ All customers whose total spend was below $500 ended up churning, which suggests that low-value customers were far more likely to discontinue the service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4369663" flipH="1" flipV="1">
            <a:off x="-820388" y="6927786"/>
            <a:ext cx="3698177" cy="4114800"/>
          </a:xfrm>
          <a:custGeom>
            <a:avLst/>
            <a:gdLst/>
            <a:ahLst/>
            <a:cxnLst/>
            <a:rect l="l" t="t" r="r" b="b"/>
            <a:pathLst>
              <a:path w="3698177" h="4114800">
                <a:moveTo>
                  <a:pt x="3698176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3698176" y="0"/>
                </a:lnTo>
                <a:lnTo>
                  <a:pt x="3698176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-635569" y="-860425"/>
            <a:ext cx="2682557" cy="3778250"/>
          </a:xfrm>
          <a:custGeom>
            <a:avLst/>
            <a:gdLst/>
            <a:ahLst/>
            <a:cxnLst/>
            <a:rect l="l" t="t" r="r" b="b"/>
            <a:pathLst>
              <a:path w="2682557" h="3778250">
                <a:moveTo>
                  <a:pt x="0" y="0"/>
                </a:moveTo>
                <a:lnTo>
                  <a:pt x="2682558" y="0"/>
                </a:lnTo>
                <a:lnTo>
                  <a:pt x="2682558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 rot="-5077616" flipH="1">
            <a:off x="15410212" y="7268263"/>
            <a:ext cx="3698176" cy="4114800"/>
          </a:xfrm>
          <a:custGeom>
            <a:avLst/>
            <a:gdLst/>
            <a:ahLst/>
            <a:cxnLst/>
            <a:rect l="l" t="t" r="r" b="b"/>
            <a:pathLst>
              <a:path w="3698176" h="4114800">
                <a:moveTo>
                  <a:pt x="3698176" y="0"/>
                </a:moveTo>
                <a:lnTo>
                  <a:pt x="0" y="0"/>
                </a:lnTo>
                <a:lnTo>
                  <a:pt x="0" y="4114800"/>
                </a:lnTo>
                <a:lnTo>
                  <a:pt x="3698176" y="4114800"/>
                </a:lnTo>
                <a:lnTo>
                  <a:pt x="3698176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16798252" y="-2749550"/>
            <a:ext cx="2682557" cy="3778250"/>
          </a:xfrm>
          <a:custGeom>
            <a:avLst/>
            <a:gdLst/>
            <a:ahLst/>
            <a:cxnLst/>
            <a:rect l="l" t="t" r="r" b="b"/>
            <a:pathLst>
              <a:path w="2682557" h="3778250">
                <a:moveTo>
                  <a:pt x="0" y="0"/>
                </a:moveTo>
                <a:lnTo>
                  <a:pt x="2682557" y="0"/>
                </a:lnTo>
                <a:lnTo>
                  <a:pt x="2682557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16950652" y="-2597150"/>
            <a:ext cx="2682557" cy="3778250"/>
          </a:xfrm>
          <a:custGeom>
            <a:avLst/>
            <a:gdLst/>
            <a:ahLst/>
            <a:cxnLst/>
            <a:rect l="l" t="t" r="r" b="b"/>
            <a:pathLst>
              <a:path w="2682557" h="3778250">
                <a:moveTo>
                  <a:pt x="0" y="0"/>
                </a:moveTo>
                <a:lnTo>
                  <a:pt x="2682557" y="0"/>
                </a:lnTo>
                <a:lnTo>
                  <a:pt x="2682557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/>
          <p:cNvSpPr/>
          <p:nvPr/>
        </p:nvSpPr>
        <p:spPr>
          <a:xfrm>
            <a:off x="17103052" y="-2444750"/>
            <a:ext cx="2682557" cy="3778250"/>
          </a:xfrm>
          <a:custGeom>
            <a:avLst/>
            <a:gdLst/>
            <a:ahLst/>
            <a:cxnLst/>
            <a:rect l="l" t="t" r="r" b="b"/>
            <a:pathLst>
              <a:path w="2682557" h="3778250">
                <a:moveTo>
                  <a:pt x="0" y="0"/>
                </a:moveTo>
                <a:lnTo>
                  <a:pt x="2682557" y="0"/>
                </a:lnTo>
                <a:lnTo>
                  <a:pt x="2682557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/>
          <p:cNvSpPr/>
          <p:nvPr/>
        </p:nvSpPr>
        <p:spPr>
          <a:xfrm>
            <a:off x="9447943" y="3170549"/>
            <a:ext cx="7811357" cy="3945903"/>
          </a:xfrm>
          <a:custGeom>
            <a:avLst/>
            <a:gdLst/>
            <a:ahLst/>
            <a:cxnLst/>
            <a:rect l="l" t="t" r="r" b="b"/>
            <a:pathLst>
              <a:path w="7811357" h="3945903">
                <a:moveTo>
                  <a:pt x="0" y="0"/>
                </a:moveTo>
                <a:lnTo>
                  <a:pt x="7811357" y="0"/>
                </a:lnTo>
                <a:lnTo>
                  <a:pt x="7811357" y="3945902"/>
                </a:lnTo>
                <a:lnTo>
                  <a:pt x="0" y="394590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7044" r="-5871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TextBox 9"/>
          <p:cNvSpPr txBox="1"/>
          <p:nvPr/>
        </p:nvSpPr>
        <p:spPr>
          <a:xfrm>
            <a:off x="705710" y="3552825"/>
            <a:ext cx="7915651" cy="27961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Payment delay</a:t>
            </a:r>
          </a:p>
          <a:p>
            <a:pPr algn="l">
              <a:lnSpc>
                <a:spcPts val="3696"/>
              </a:lnSpc>
            </a:pPr>
            <a:endParaRPr lang="en-US" sz="32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l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➡ Every customer who delayed payment by more than 20 days ended up churning </a:t>
            </a:r>
          </a:p>
          <a:p>
            <a:pPr algn="l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➡ a clear indication that late payment is strongly associated with customer attrition.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4369663" flipH="1" flipV="1">
            <a:off x="-820388" y="6927786"/>
            <a:ext cx="3698177" cy="4114800"/>
          </a:xfrm>
          <a:custGeom>
            <a:avLst/>
            <a:gdLst/>
            <a:ahLst/>
            <a:cxnLst/>
            <a:rect l="l" t="t" r="r" b="b"/>
            <a:pathLst>
              <a:path w="3698177" h="4114800">
                <a:moveTo>
                  <a:pt x="3698176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3698176" y="0"/>
                </a:lnTo>
                <a:lnTo>
                  <a:pt x="3698176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-635569" y="-860425"/>
            <a:ext cx="2682557" cy="3778250"/>
          </a:xfrm>
          <a:custGeom>
            <a:avLst/>
            <a:gdLst/>
            <a:ahLst/>
            <a:cxnLst/>
            <a:rect l="l" t="t" r="r" b="b"/>
            <a:pathLst>
              <a:path w="2682557" h="3778250">
                <a:moveTo>
                  <a:pt x="0" y="0"/>
                </a:moveTo>
                <a:lnTo>
                  <a:pt x="2682558" y="0"/>
                </a:lnTo>
                <a:lnTo>
                  <a:pt x="2682558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 rot="-5077616" flipH="1">
            <a:off x="15410212" y="7268263"/>
            <a:ext cx="3698176" cy="4114800"/>
          </a:xfrm>
          <a:custGeom>
            <a:avLst/>
            <a:gdLst/>
            <a:ahLst/>
            <a:cxnLst/>
            <a:rect l="l" t="t" r="r" b="b"/>
            <a:pathLst>
              <a:path w="3698176" h="4114800">
                <a:moveTo>
                  <a:pt x="3698176" y="0"/>
                </a:moveTo>
                <a:lnTo>
                  <a:pt x="0" y="0"/>
                </a:lnTo>
                <a:lnTo>
                  <a:pt x="0" y="4114800"/>
                </a:lnTo>
                <a:lnTo>
                  <a:pt x="3698176" y="4114800"/>
                </a:lnTo>
                <a:lnTo>
                  <a:pt x="3698176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16798252" y="-2749550"/>
            <a:ext cx="2682557" cy="3778250"/>
          </a:xfrm>
          <a:custGeom>
            <a:avLst/>
            <a:gdLst/>
            <a:ahLst/>
            <a:cxnLst/>
            <a:rect l="l" t="t" r="r" b="b"/>
            <a:pathLst>
              <a:path w="2682557" h="3778250">
                <a:moveTo>
                  <a:pt x="0" y="0"/>
                </a:moveTo>
                <a:lnTo>
                  <a:pt x="2682557" y="0"/>
                </a:lnTo>
                <a:lnTo>
                  <a:pt x="2682557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16950652" y="-2597150"/>
            <a:ext cx="2682557" cy="3778250"/>
          </a:xfrm>
          <a:custGeom>
            <a:avLst/>
            <a:gdLst/>
            <a:ahLst/>
            <a:cxnLst/>
            <a:rect l="l" t="t" r="r" b="b"/>
            <a:pathLst>
              <a:path w="2682557" h="3778250">
                <a:moveTo>
                  <a:pt x="0" y="0"/>
                </a:moveTo>
                <a:lnTo>
                  <a:pt x="2682557" y="0"/>
                </a:lnTo>
                <a:lnTo>
                  <a:pt x="2682557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/>
          <p:cNvSpPr/>
          <p:nvPr/>
        </p:nvSpPr>
        <p:spPr>
          <a:xfrm>
            <a:off x="17103052" y="-2444750"/>
            <a:ext cx="2682557" cy="3778250"/>
          </a:xfrm>
          <a:custGeom>
            <a:avLst/>
            <a:gdLst/>
            <a:ahLst/>
            <a:cxnLst/>
            <a:rect l="l" t="t" r="r" b="b"/>
            <a:pathLst>
              <a:path w="2682557" h="3778250">
                <a:moveTo>
                  <a:pt x="0" y="0"/>
                </a:moveTo>
                <a:lnTo>
                  <a:pt x="2682557" y="0"/>
                </a:lnTo>
                <a:lnTo>
                  <a:pt x="2682557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/>
          <p:cNvSpPr/>
          <p:nvPr/>
        </p:nvSpPr>
        <p:spPr>
          <a:xfrm>
            <a:off x="9899581" y="3156307"/>
            <a:ext cx="8014283" cy="3974386"/>
          </a:xfrm>
          <a:custGeom>
            <a:avLst/>
            <a:gdLst/>
            <a:ahLst/>
            <a:cxnLst/>
            <a:rect l="l" t="t" r="r" b="b"/>
            <a:pathLst>
              <a:path w="8014283" h="3974386">
                <a:moveTo>
                  <a:pt x="0" y="0"/>
                </a:moveTo>
                <a:lnTo>
                  <a:pt x="8014283" y="0"/>
                </a:lnTo>
                <a:lnTo>
                  <a:pt x="8014283" y="3974386"/>
                </a:lnTo>
                <a:lnTo>
                  <a:pt x="0" y="397438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TextBox 9"/>
          <p:cNvSpPr txBox="1"/>
          <p:nvPr/>
        </p:nvSpPr>
        <p:spPr>
          <a:xfrm>
            <a:off x="705710" y="3552825"/>
            <a:ext cx="7915651" cy="3400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 Usage Frequency</a:t>
            </a:r>
          </a:p>
          <a:p>
            <a:pPr algn="l">
              <a:lnSpc>
                <a:spcPts val="3840"/>
              </a:lnSpc>
            </a:pPr>
            <a:endParaRPr lang="en-US" sz="32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l">
              <a:lnSpc>
                <a:spcPts val="3359"/>
              </a:lnSpc>
            </a:pPr>
            <a:r>
              <a:rPr lang="en-US" sz="27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➡ Customers who used the service fewer than ten times in the last month showed a higher likelihood of churning.</a:t>
            </a:r>
          </a:p>
          <a:p>
            <a:pPr algn="l">
              <a:lnSpc>
                <a:spcPts val="3359"/>
              </a:lnSpc>
            </a:pPr>
            <a:endParaRPr lang="en-US" sz="2799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l">
              <a:lnSpc>
                <a:spcPts val="5759"/>
              </a:lnSpc>
            </a:pPr>
            <a:endParaRPr lang="en-US" sz="2799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4369663" flipH="1" flipV="1">
            <a:off x="-820388" y="6927786"/>
            <a:ext cx="3698177" cy="4114800"/>
          </a:xfrm>
          <a:custGeom>
            <a:avLst/>
            <a:gdLst/>
            <a:ahLst/>
            <a:cxnLst/>
            <a:rect l="l" t="t" r="r" b="b"/>
            <a:pathLst>
              <a:path w="3698177" h="4114800">
                <a:moveTo>
                  <a:pt x="3698176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3698176" y="0"/>
                </a:lnTo>
                <a:lnTo>
                  <a:pt x="3698176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-635569" y="-860425"/>
            <a:ext cx="2682557" cy="3778250"/>
          </a:xfrm>
          <a:custGeom>
            <a:avLst/>
            <a:gdLst/>
            <a:ahLst/>
            <a:cxnLst/>
            <a:rect l="l" t="t" r="r" b="b"/>
            <a:pathLst>
              <a:path w="2682557" h="3778250">
                <a:moveTo>
                  <a:pt x="0" y="0"/>
                </a:moveTo>
                <a:lnTo>
                  <a:pt x="2682558" y="0"/>
                </a:lnTo>
                <a:lnTo>
                  <a:pt x="2682558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 rot="-5077616" flipH="1">
            <a:off x="15410212" y="7268263"/>
            <a:ext cx="3698176" cy="4114800"/>
          </a:xfrm>
          <a:custGeom>
            <a:avLst/>
            <a:gdLst/>
            <a:ahLst/>
            <a:cxnLst/>
            <a:rect l="l" t="t" r="r" b="b"/>
            <a:pathLst>
              <a:path w="3698176" h="4114800">
                <a:moveTo>
                  <a:pt x="3698176" y="0"/>
                </a:moveTo>
                <a:lnTo>
                  <a:pt x="0" y="0"/>
                </a:lnTo>
                <a:lnTo>
                  <a:pt x="0" y="4114800"/>
                </a:lnTo>
                <a:lnTo>
                  <a:pt x="3698176" y="4114800"/>
                </a:lnTo>
                <a:lnTo>
                  <a:pt x="3698176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16798252" y="-2749550"/>
            <a:ext cx="2682557" cy="3778250"/>
          </a:xfrm>
          <a:custGeom>
            <a:avLst/>
            <a:gdLst/>
            <a:ahLst/>
            <a:cxnLst/>
            <a:rect l="l" t="t" r="r" b="b"/>
            <a:pathLst>
              <a:path w="2682557" h="3778250">
                <a:moveTo>
                  <a:pt x="0" y="0"/>
                </a:moveTo>
                <a:lnTo>
                  <a:pt x="2682557" y="0"/>
                </a:lnTo>
                <a:lnTo>
                  <a:pt x="2682557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16950652" y="-2597150"/>
            <a:ext cx="2682557" cy="3778250"/>
          </a:xfrm>
          <a:custGeom>
            <a:avLst/>
            <a:gdLst/>
            <a:ahLst/>
            <a:cxnLst/>
            <a:rect l="l" t="t" r="r" b="b"/>
            <a:pathLst>
              <a:path w="2682557" h="3778250">
                <a:moveTo>
                  <a:pt x="0" y="0"/>
                </a:moveTo>
                <a:lnTo>
                  <a:pt x="2682557" y="0"/>
                </a:lnTo>
                <a:lnTo>
                  <a:pt x="2682557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/>
          <p:cNvSpPr/>
          <p:nvPr/>
        </p:nvSpPr>
        <p:spPr>
          <a:xfrm>
            <a:off x="17103052" y="-2444750"/>
            <a:ext cx="2682557" cy="3778250"/>
          </a:xfrm>
          <a:custGeom>
            <a:avLst/>
            <a:gdLst/>
            <a:ahLst/>
            <a:cxnLst/>
            <a:rect l="l" t="t" r="r" b="b"/>
            <a:pathLst>
              <a:path w="2682557" h="3778250">
                <a:moveTo>
                  <a:pt x="0" y="0"/>
                </a:moveTo>
                <a:lnTo>
                  <a:pt x="2682557" y="0"/>
                </a:lnTo>
                <a:lnTo>
                  <a:pt x="2682557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/>
          <p:cNvSpPr/>
          <p:nvPr/>
        </p:nvSpPr>
        <p:spPr>
          <a:xfrm>
            <a:off x="9599521" y="2982987"/>
            <a:ext cx="7925294" cy="4321026"/>
          </a:xfrm>
          <a:custGeom>
            <a:avLst/>
            <a:gdLst/>
            <a:ahLst/>
            <a:cxnLst/>
            <a:rect l="l" t="t" r="r" b="b"/>
            <a:pathLst>
              <a:path w="7925294" h="4321026">
                <a:moveTo>
                  <a:pt x="0" y="0"/>
                </a:moveTo>
                <a:lnTo>
                  <a:pt x="7925294" y="0"/>
                </a:lnTo>
                <a:lnTo>
                  <a:pt x="7925294" y="4321026"/>
                </a:lnTo>
                <a:lnTo>
                  <a:pt x="0" y="432102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TextBox 9"/>
          <p:cNvSpPr txBox="1"/>
          <p:nvPr/>
        </p:nvSpPr>
        <p:spPr>
          <a:xfrm>
            <a:off x="705710" y="3552825"/>
            <a:ext cx="7915651" cy="3752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Last Interaction</a:t>
            </a:r>
          </a:p>
          <a:p>
            <a:pPr algn="l">
              <a:lnSpc>
                <a:spcPts val="3359"/>
              </a:lnSpc>
            </a:pPr>
            <a:endParaRPr lang="en-US" sz="32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l">
              <a:lnSpc>
                <a:spcPts val="3359"/>
              </a:lnSpc>
            </a:pPr>
            <a:r>
              <a:rPr lang="en-US" sz="27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➡ Customers whose last interaction with our service was three weeks ago or more showed a higher churn rate compared to those who engaged with us more recently.</a:t>
            </a:r>
          </a:p>
          <a:p>
            <a:pPr algn="l">
              <a:lnSpc>
                <a:spcPts val="3359"/>
              </a:lnSpc>
            </a:pPr>
            <a:endParaRPr lang="en-US" sz="2799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l">
              <a:lnSpc>
                <a:spcPts val="5759"/>
              </a:lnSpc>
            </a:pPr>
            <a:endParaRPr lang="en-US" sz="2799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635569" y="-860425"/>
            <a:ext cx="2682557" cy="3778250"/>
          </a:xfrm>
          <a:custGeom>
            <a:avLst/>
            <a:gdLst/>
            <a:ahLst/>
            <a:cxnLst/>
            <a:rect l="l" t="t" r="r" b="b"/>
            <a:pathLst>
              <a:path w="2682557" h="3778250">
                <a:moveTo>
                  <a:pt x="0" y="0"/>
                </a:moveTo>
                <a:lnTo>
                  <a:pt x="2682558" y="0"/>
                </a:lnTo>
                <a:lnTo>
                  <a:pt x="2682558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16798252" y="-2749550"/>
            <a:ext cx="2682557" cy="3778250"/>
          </a:xfrm>
          <a:custGeom>
            <a:avLst/>
            <a:gdLst/>
            <a:ahLst/>
            <a:cxnLst/>
            <a:rect l="l" t="t" r="r" b="b"/>
            <a:pathLst>
              <a:path w="2682557" h="3778250">
                <a:moveTo>
                  <a:pt x="0" y="0"/>
                </a:moveTo>
                <a:lnTo>
                  <a:pt x="2682557" y="0"/>
                </a:lnTo>
                <a:lnTo>
                  <a:pt x="2682557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>
            <a:off x="16950652" y="-2597150"/>
            <a:ext cx="2682557" cy="3778250"/>
          </a:xfrm>
          <a:custGeom>
            <a:avLst/>
            <a:gdLst/>
            <a:ahLst/>
            <a:cxnLst/>
            <a:rect l="l" t="t" r="r" b="b"/>
            <a:pathLst>
              <a:path w="2682557" h="3778250">
                <a:moveTo>
                  <a:pt x="0" y="0"/>
                </a:moveTo>
                <a:lnTo>
                  <a:pt x="2682557" y="0"/>
                </a:lnTo>
                <a:lnTo>
                  <a:pt x="2682557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17103052" y="-2444750"/>
            <a:ext cx="2682557" cy="3778250"/>
          </a:xfrm>
          <a:custGeom>
            <a:avLst/>
            <a:gdLst/>
            <a:ahLst/>
            <a:cxnLst/>
            <a:rect l="l" t="t" r="r" b="b"/>
            <a:pathLst>
              <a:path w="2682557" h="3778250">
                <a:moveTo>
                  <a:pt x="0" y="0"/>
                </a:moveTo>
                <a:lnTo>
                  <a:pt x="2682557" y="0"/>
                </a:lnTo>
                <a:lnTo>
                  <a:pt x="2682557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288802" y="5317107"/>
            <a:ext cx="17710396" cy="4740630"/>
          </a:xfrm>
          <a:custGeom>
            <a:avLst/>
            <a:gdLst/>
            <a:ahLst/>
            <a:cxnLst/>
            <a:rect l="l" t="t" r="r" b="b"/>
            <a:pathLst>
              <a:path w="17710396" h="4740630">
                <a:moveTo>
                  <a:pt x="0" y="0"/>
                </a:moveTo>
                <a:lnTo>
                  <a:pt x="17710396" y="0"/>
                </a:lnTo>
                <a:lnTo>
                  <a:pt x="17710396" y="4740630"/>
                </a:lnTo>
                <a:lnTo>
                  <a:pt x="0" y="47406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-74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TextBox 7"/>
          <p:cNvSpPr txBox="1"/>
          <p:nvPr/>
        </p:nvSpPr>
        <p:spPr>
          <a:xfrm>
            <a:off x="1541253" y="2828925"/>
            <a:ext cx="15205494" cy="18387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Age</a:t>
            </a:r>
          </a:p>
          <a:p>
            <a:pPr algn="l">
              <a:lnSpc>
                <a:spcPts val="3624"/>
              </a:lnSpc>
            </a:pPr>
            <a:endParaRPr lang="en-US" sz="32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l">
              <a:lnSpc>
                <a:spcPts val="3624"/>
              </a:lnSpc>
            </a:pPr>
            <a:r>
              <a:rPr lang="en-US" sz="24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➡ all customers over 50 years old churned, customers aged 40–50 had a lower churn rate, while churn was somewhat high among customers aged between 18 and 20.”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4369663" flipH="1" flipV="1">
            <a:off x="-820388" y="6927786"/>
            <a:ext cx="3698177" cy="4114800"/>
          </a:xfrm>
          <a:custGeom>
            <a:avLst/>
            <a:gdLst/>
            <a:ahLst/>
            <a:cxnLst/>
            <a:rect l="l" t="t" r="r" b="b"/>
            <a:pathLst>
              <a:path w="3698177" h="4114800">
                <a:moveTo>
                  <a:pt x="3698176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3698176" y="0"/>
                </a:lnTo>
                <a:lnTo>
                  <a:pt x="3698176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-635569" y="-860425"/>
            <a:ext cx="2682557" cy="3778250"/>
          </a:xfrm>
          <a:custGeom>
            <a:avLst/>
            <a:gdLst/>
            <a:ahLst/>
            <a:cxnLst/>
            <a:rect l="l" t="t" r="r" b="b"/>
            <a:pathLst>
              <a:path w="2682557" h="3778250">
                <a:moveTo>
                  <a:pt x="0" y="0"/>
                </a:moveTo>
                <a:lnTo>
                  <a:pt x="2682558" y="0"/>
                </a:lnTo>
                <a:lnTo>
                  <a:pt x="2682558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 rot="-5077616" flipH="1">
            <a:off x="15410212" y="7268263"/>
            <a:ext cx="3698176" cy="4114800"/>
          </a:xfrm>
          <a:custGeom>
            <a:avLst/>
            <a:gdLst/>
            <a:ahLst/>
            <a:cxnLst/>
            <a:rect l="l" t="t" r="r" b="b"/>
            <a:pathLst>
              <a:path w="3698176" h="4114800">
                <a:moveTo>
                  <a:pt x="3698176" y="0"/>
                </a:moveTo>
                <a:lnTo>
                  <a:pt x="0" y="0"/>
                </a:lnTo>
                <a:lnTo>
                  <a:pt x="0" y="4114800"/>
                </a:lnTo>
                <a:lnTo>
                  <a:pt x="3698176" y="4114800"/>
                </a:lnTo>
                <a:lnTo>
                  <a:pt x="3698176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16798252" y="-2749550"/>
            <a:ext cx="2682557" cy="3778250"/>
          </a:xfrm>
          <a:custGeom>
            <a:avLst/>
            <a:gdLst/>
            <a:ahLst/>
            <a:cxnLst/>
            <a:rect l="l" t="t" r="r" b="b"/>
            <a:pathLst>
              <a:path w="2682557" h="3778250">
                <a:moveTo>
                  <a:pt x="0" y="0"/>
                </a:moveTo>
                <a:lnTo>
                  <a:pt x="2682557" y="0"/>
                </a:lnTo>
                <a:lnTo>
                  <a:pt x="2682557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16950652" y="-2597150"/>
            <a:ext cx="2682557" cy="3778250"/>
          </a:xfrm>
          <a:custGeom>
            <a:avLst/>
            <a:gdLst/>
            <a:ahLst/>
            <a:cxnLst/>
            <a:rect l="l" t="t" r="r" b="b"/>
            <a:pathLst>
              <a:path w="2682557" h="3778250">
                <a:moveTo>
                  <a:pt x="0" y="0"/>
                </a:moveTo>
                <a:lnTo>
                  <a:pt x="2682557" y="0"/>
                </a:lnTo>
                <a:lnTo>
                  <a:pt x="2682557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/>
          <p:cNvSpPr/>
          <p:nvPr/>
        </p:nvSpPr>
        <p:spPr>
          <a:xfrm>
            <a:off x="17103052" y="-2444750"/>
            <a:ext cx="2682557" cy="3778250"/>
          </a:xfrm>
          <a:custGeom>
            <a:avLst/>
            <a:gdLst/>
            <a:ahLst/>
            <a:cxnLst/>
            <a:rect l="l" t="t" r="r" b="b"/>
            <a:pathLst>
              <a:path w="2682557" h="3778250">
                <a:moveTo>
                  <a:pt x="0" y="0"/>
                </a:moveTo>
                <a:lnTo>
                  <a:pt x="2682557" y="0"/>
                </a:lnTo>
                <a:lnTo>
                  <a:pt x="2682557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/>
          <p:cNvSpPr/>
          <p:nvPr/>
        </p:nvSpPr>
        <p:spPr>
          <a:xfrm>
            <a:off x="4165518" y="5223126"/>
            <a:ext cx="9956964" cy="4035174"/>
          </a:xfrm>
          <a:custGeom>
            <a:avLst/>
            <a:gdLst/>
            <a:ahLst/>
            <a:cxnLst/>
            <a:rect l="l" t="t" r="r" b="b"/>
            <a:pathLst>
              <a:path w="9956964" h="4035174">
                <a:moveTo>
                  <a:pt x="0" y="0"/>
                </a:moveTo>
                <a:lnTo>
                  <a:pt x="9956964" y="0"/>
                </a:lnTo>
                <a:lnTo>
                  <a:pt x="9956964" y="4035174"/>
                </a:lnTo>
                <a:lnTo>
                  <a:pt x="0" y="403517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2402" r="-216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TextBox 9"/>
          <p:cNvSpPr txBox="1"/>
          <p:nvPr/>
        </p:nvSpPr>
        <p:spPr>
          <a:xfrm>
            <a:off x="1822727" y="2003907"/>
            <a:ext cx="14642547" cy="21069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Gender</a:t>
            </a:r>
          </a:p>
          <a:p>
            <a:pPr algn="l">
              <a:lnSpc>
                <a:spcPts val="5759"/>
              </a:lnSpc>
            </a:pPr>
            <a:endParaRPr lang="en-US" sz="3200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Two-third of female customers churned, while less than half of male customers did. Overall, the proportion of male participants in our dataset is higher than that of females.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4369663" flipH="1" flipV="1">
            <a:off x="-820388" y="6927786"/>
            <a:ext cx="3698177" cy="4114800"/>
          </a:xfrm>
          <a:custGeom>
            <a:avLst/>
            <a:gdLst/>
            <a:ahLst/>
            <a:cxnLst/>
            <a:rect l="l" t="t" r="r" b="b"/>
            <a:pathLst>
              <a:path w="3698177" h="4114800">
                <a:moveTo>
                  <a:pt x="3698176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3698176" y="0"/>
                </a:lnTo>
                <a:lnTo>
                  <a:pt x="3698176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-635569" y="-860425"/>
            <a:ext cx="2682557" cy="3778250"/>
          </a:xfrm>
          <a:custGeom>
            <a:avLst/>
            <a:gdLst/>
            <a:ahLst/>
            <a:cxnLst/>
            <a:rect l="l" t="t" r="r" b="b"/>
            <a:pathLst>
              <a:path w="2682557" h="3778250">
                <a:moveTo>
                  <a:pt x="0" y="0"/>
                </a:moveTo>
                <a:lnTo>
                  <a:pt x="2682558" y="0"/>
                </a:lnTo>
                <a:lnTo>
                  <a:pt x="2682558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 rot="-5077616" flipH="1">
            <a:off x="15410212" y="7268263"/>
            <a:ext cx="3698176" cy="4114800"/>
          </a:xfrm>
          <a:custGeom>
            <a:avLst/>
            <a:gdLst/>
            <a:ahLst/>
            <a:cxnLst/>
            <a:rect l="l" t="t" r="r" b="b"/>
            <a:pathLst>
              <a:path w="3698176" h="4114800">
                <a:moveTo>
                  <a:pt x="3698176" y="0"/>
                </a:moveTo>
                <a:lnTo>
                  <a:pt x="0" y="0"/>
                </a:lnTo>
                <a:lnTo>
                  <a:pt x="0" y="4114800"/>
                </a:lnTo>
                <a:lnTo>
                  <a:pt x="3698176" y="4114800"/>
                </a:lnTo>
                <a:lnTo>
                  <a:pt x="3698176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16798252" y="-2749550"/>
            <a:ext cx="2682557" cy="3778250"/>
          </a:xfrm>
          <a:custGeom>
            <a:avLst/>
            <a:gdLst/>
            <a:ahLst/>
            <a:cxnLst/>
            <a:rect l="l" t="t" r="r" b="b"/>
            <a:pathLst>
              <a:path w="2682557" h="3778250">
                <a:moveTo>
                  <a:pt x="0" y="0"/>
                </a:moveTo>
                <a:lnTo>
                  <a:pt x="2682557" y="0"/>
                </a:lnTo>
                <a:lnTo>
                  <a:pt x="2682557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9705504" y="3488648"/>
            <a:ext cx="7092747" cy="4997401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1230832" y="3441023"/>
            <a:ext cx="7913168" cy="1495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59"/>
              </a:lnSpc>
            </a:pPr>
            <a:r>
              <a:rPr lang="en-US" sz="4800" dirty="0">
                <a:solidFill>
                  <a:srgbClr val="DD5768"/>
                </a:solidFill>
                <a:latin typeface="Poppins"/>
                <a:ea typeface="Poppins"/>
                <a:cs typeface="Poppins"/>
                <a:sym typeface="Poppins"/>
              </a:rPr>
              <a:t>Next, let’s </a:t>
            </a:r>
            <a:r>
              <a:rPr lang="en-US" sz="4800" dirty="0">
                <a:solidFill>
                  <a:srgbClr val="DD5768"/>
                </a:solidFill>
                <a:latin typeface="Poppins"/>
                <a:cs typeface="Poppins"/>
                <a:sym typeface="Poppins"/>
              </a:rPr>
              <a:t>take a look </a:t>
            </a:r>
            <a:r>
              <a:rPr lang="en-US" sz="4800" dirty="0">
                <a:solidFill>
                  <a:srgbClr val="DD5768"/>
                </a:solidFill>
                <a:latin typeface="Poppins"/>
                <a:ea typeface="Poppins"/>
                <a:cs typeface="Poppins"/>
                <a:sym typeface="Poppins"/>
              </a:rPr>
              <a:t>at our </a:t>
            </a:r>
            <a:r>
              <a:rPr lang="en-US" sz="4800" dirty="0">
                <a:solidFill>
                  <a:srgbClr val="DD5768"/>
                </a:solidFill>
                <a:latin typeface="Poppins"/>
                <a:cs typeface="Poppins"/>
                <a:sym typeface="Poppins"/>
                <a:hlinkClick r:id="rId7" tooltip="https://public.tableau.com/views/Churn_Dashboard_17647194498900/Overviewpage?:language=en-US&amp;:sid=&amp;:redirect=auth&amp;:display_count=n&amp;:origin=viz_share_link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Dashboard</a:t>
            </a:r>
            <a:r>
              <a:rPr lang="en-US" sz="4800" dirty="0">
                <a:solidFill>
                  <a:srgbClr val="DD5768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</a:p>
        </p:txBody>
      </p:sp>
      <p:sp>
        <p:nvSpPr>
          <p:cNvPr id="8" name="Freeform 8"/>
          <p:cNvSpPr/>
          <p:nvPr/>
        </p:nvSpPr>
        <p:spPr>
          <a:xfrm>
            <a:off x="16950652" y="-2597150"/>
            <a:ext cx="2682557" cy="3778250"/>
          </a:xfrm>
          <a:custGeom>
            <a:avLst/>
            <a:gdLst/>
            <a:ahLst/>
            <a:cxnLst/>
            <a:rect l="l" t="t" r="r" b="b"/>
            <a:pathLst>
              <a:path w="2682557" h="3778250">
                <a:moveTo>
                  <a:pt x="0" y="0"/>
                </a:moveTo>
                <a:lnTo>
                  <a:pt x="2682557" y="0"/>
                </a:lnTo>
                <a:lnTo>
                  <a:pt x="2682557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Freeform 9"/>
          <p:cNvSpPr/>
          <p:nvPr/>
        </p:nvSpPr>
        <p:spPr>
          <a:xfrm>
            <a:off x="17103052" y="-2444750"/>
            <a:ext cx="2682557" cy="3778250"/>
          </a:xfrm>
          <a:custGeom>
            <a:avLst/>
            <a:gdLst/>
            <a:ahLst/>
            <a:cxnLst/>
            <a:rect l="l" t="t" r="r" b="b"/>
            <a:pathLst>
              <a:path w="2682557" h="3778250">
                <a:moveTo>
                  <a:pt x="0" y="0"/>
                </a:moveTo>
                <a:lnTo>
                  <a:pt x="2682557" y="0"/>
                </a:lnTo>
                <a:lnTo>
                  <a:pt x="2682557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347055" y="0"/>
            <a:ext cx="15593889" cy="10287000"/>
          </a:xfrm>
          <a:custGeom>
            <a:avLst/>
            <a:gdLst/>
            <a:ahLst/>
            <a:cxnLst/>
            <a:rect l="l" t="t" r="r" b="b"/>
            <a:pathLst>
              <a:path w="15593889" h="10287000">
                <a:moveTo>
                  <a:pt x="0" y="0"/>
                </a:moveTo>
                <a:lnTo>
                  <a:pt x="15593890" y="0"/>
                </a:lnTo>
                <a:lnTo>
                  <a:pt x="1559389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476790" y="0"/>
            <a:ext cx="15334420" cy="10287000"/>
          </a:xfrm>
          <a:custGeom>
            <a:avLst/>
            <a:gdLst/>
            <a:ahLst/>
            <a:cxnLst/>
            <a:rect l="l" t="t" r="r" b="b"/>
            <a:pathLst>
              <a:path w="15334420" h="10287000">
                <a:moveTo>
                  <a:pt x="0" y="0"/>
                </a:moveTo>
                <a:lnTo>
                  <a:pt x="15334420" y="0"/>
                </a:lnTo>
                <a:lnTo>
                  <a:pt x="1533442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B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373618" y="0"/>
            <a:ext cx="15540764" cy="10287000"/>
          </a:xfrm>
          <a:custGeom>
            <a:avLst/>
            <a:gdLst/>
            <a:ahLst/>
            <a:cxnLst/>
            <a:rect l="l" t="t" r="r" b="b"/>
            <a:pathLst>
              <a:path w="15540764" h="10287000">
                <a:moveTo>
                  <a:pt x="0" y="0"/>
                </a:moveTo>
                <a:lnTo>
                  <a:pt x="15540764" y="0"/>
                </a:lnTo>
                <a:lnTo>
                  <a:pt x="15540764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4369663" flipH="1" flipV="1">
            <a:off x="-820388" y="6927786"/>
            <a:ext cx="3698177" cy="4114800"/>
          </a:xfrm>
          <a:custGeom>
            <a:avLst/>
            <a:gdLst/>
            <a:ahLst/>
            <a:cxnLst/>
            <a:rect l="l" t="t" r="r" b="b"/>
            <a:pathLst>
              <a:path w="3698177" h="4114800">
                <a:moveTo>
                  <a:pt x="3698176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3698176" y="0"/>
                </a:lnTo>
                <a:lnTo>
                  <a:pt x="3698176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-635569" y="-860425"/>
            <a:ext cx="2682557" cy="3778250"/>
          </a:xfrm>
          <a:custGeom>
            <a:avLst/>
            <a:gdLst/>
            <a:ahLst/>
            <a:cxnLst/>
            <a:rect l="l" t="t" r="r" b="b"/>
            <a:pathLst>
              <a:path w="2682557" h="3778250">
                <a:moveTo>
                  <a:pt x="0" y="0"/>
                </a:moveTo>
                <a:lnTo>
                  <a:pt x="2682558" y="0"/>
                </a:lnTo>
                <a:lnTo>
                  <a:pt x="2682558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 rot="-5077616" flipH="1">
            <a:off x="15410212" y="7268263"/>
            <a:ext cx="3698176" cy="4114800"/>
          </a:xfrm>
          <a:custGeom>
            <a:avLst/>
            <a:gdLst/>
            <a:ahLst/>
            <a:cxnLst/>
            <a:rect l="l" t="t" r="r" b="b"/>
            <a:pathLst>
              <a:path w="3698176" h="4114800">
                <a:moveTo>
                  <a:pt x="3698176" y="0"/>
                </a:moveTo>
                <a:lnTo>
                  <a:pt x="0" y="0"/>
                </a:lnTo>
                <a:lnTo>
                  <a:pt x="0" y="4114800"/>
                </a:lnTo>
                <a:lnTo>
                  <a:pt x="3698176" y="4114800"/>
                </a:lnTo>
                <a:lnTo>
                  <a:pt x="3698176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16798252" y="-2749550"/>
            <a:ext cx="2682557" cy="3778250"/>
          </a:xfrm>
          <a:custGeom>
            <a:avLst/>
            <a:gdLst/>
            <a:ahLst/>
            <a:cxnLst/>
            <a:rect l="l" t="t" r="r" b="b"/>
            <a:pathLst>
              <a:path w="2682557" h="3778250">
                <a:moveTo>
                  <a:pt x="0" y="0"/>
                </a:moveTo>
                <a:lnTo>
                  <a:pt x="2682557" y="0"/>
                </a:lnTo>
                <a:lnTo>
                  <a:pt x="2682557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9705504" y="3488648"/>
            <a:ext cx="7092747" cy="4997401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1230832" y="3441023"/>
            <a:ext cx="7913168" cy="1495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59"/>
              </a:lnSpc>
            </a:pPr>
            <a:r>
              <a:rPr lang="en-US" sz="4800">
                <a:solidFill>
                  <a:srgbClr val="DD5768"/>
                </a:solidFill>
                <a:latin typeface="Poppins"/>
                <a:ea typeface="Poppins"/>
                <a:cs typeface="Poppins"/>
                <a:sym typeface="Poppins"/>
              </a:rPr>
              <a:t>Next, let’s take a look at our predictive model.</a:t>
            </a:r>
          </a:p>
        </p:txBody>
      </p:sp>
      <p:sp>
        <p:nvSpPr>
          <p:cNvPr id="8" name="Freeform 8"/>
          <p:cNvSpPr/>
          <p:nvPr/>
        </p:nvSpPr>
        <p:spPr>
          <a:xfrm>
            <a:off x="16950652" y="-2597150"/>
            <a:ext cx="2682557" cy="3778250"/>
          </a:xfrm>
          <a:custGeom>
            <a:avLst/>
            <a:gdLst/>
            <a:ahLst/>
            <a:cxnLst/>
            <a:rect l="l" t="t" r="r" b="b"/>
            <a:pathLst>
              <a:path w="2682557" h="3778250">
                <a:moveTo>
                  <a:pt x="0" y="0"/>
                </a:moveTo>
                <a:lnTo>
                  <a:pt x="2682557" y="0"/>
                </a:lnTo>
                <a:lnTo>
                  <a:pt x="2682557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Freeform 9"/>
          <p:cNvSpPr/>
          <p:nvPr/>
        </p:nvSpPr>
        <p:spPr>
          <a:xfrm>
            <a:off x="17103052" y="-2444750"/>
            <a:ext cx="2682557" cy="3778250"/>
          </a:xfrm>
          <a:custGeom>
            <a:avLst/>
            <a:gdLst/>
            <a:ahLst/>
            <a:cxnLst/>
            <a:rect l="l" t="t" r="r" b="b"/>
            <a:pathLst>
              <a:path w="2682557" h="3778250">
                <a:moveTo>
                  <a:pt x="0" y="0"/>
                </a:moveTo>
                <a:lnTo>
                  <a:pt x="2682557" y="0"/>
                </a:lnTo>
                <a:lnTo>
                  <a:pt x="2682557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4369663" flipH="1" flipV="1">
            <a:off x="-820388" y="6927786"/>
            <a:ext cx="3698177" cy="4114800"/>
          </a:xfrm>
          <a:custGeom>
            <a:avLst/>
            <a:gdLst/>
            <a:ahLst/>
            <a:cxnLst/>
            <a:rect l="l" t="t" r="r" b="b"/>
            <a:pathLst>
              <a:path w="3698177" h="4114800">
                <a:moveTo>
                  <a:pt x="3698176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3698176" y="0"/>
                </a:lnTo>
                <a:lnTo>
                  <a:pt x="3698176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-635569" y="-860425"/>
            <a:ext cx="2682557" cy="3778250"/>
          </a:xfrm>
          <a:custGeom>
            <a:avLst/>
            <a:gdLst/>
            <a:ahLst/>
            <a:cxnLst/>
            <a:rect l="l" t="t" r="r" b="b"/>
            <a:pathLst>
              <a:path w="2682557" h="3778250">
                <a:moveTo>
                  <a:pt x="0" y="0"/>
                </a:moveTo>
                <a:lnTo>
                  <a:pt x="2682558" y="0"/>
                </a:lnTo>
                <a:lnTo>
                  <a:pt x="2682558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>
            <a:off x="13629880" y="6596382"/>
            <a:ext cx="3629420" cy="2632979"/>
          </a:xfrm>
          <a:custGeom>
            <a:avLst/>
            <a:gdLst/>
            <a:ahLst/>
            <a:cxnLst/>
            <a:rect l="l" t="t" r="r" b="b"/>
            <a:pathLst>
              <a:path w="3629420" h="2632979">
                <a:moveTo>
                  <a:pt x="0" y="0"/>
                </a:moveTo>
                <a:lnTo>
                  <a:pt x="3629420" y="0"/>
                </a:lnTo>
                <a:lnTo>
                  <a:pt x="3629420" y="2632979"/>
                </a:lnTo>
                <a:lnTo>
                  <a:pt x="0" y="263297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TextBox 5"/>
          <p:cNvSpPr txBox="1"/>
          <p:nvPr/>
        </p:nvSpPr>
        <p:spPr>
          <a:xfrm>
            <a:off x="2574122" y="1558354"/>
            <a:ext cx="10564217" cy="571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500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Predictive Models for Customer Churn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404170" y="3950737"/>
            <a:ext cx="9691892" cy="7823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74981" lvl="1" indent="-237491" algn="l">
              <a:lnSpc>
                <a:spcPts val="3080"/>
              </a:lnSpc>
              <a:buFont typeface="Arial"/>
              <a:buChar char="•"/>
            </a:pPr>
            <a:r>
              <a:rPr lang="en-US" sz="22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Two machine learning models were built to predict customer churn: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306672" y="6086477"/>
            <a:ext cx="2767757" cy="509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  <a:spcBef>
                <a:spcPct val="0"/>
              </a:spcBef>
            </a:pPr>
            <a:r>
              <a:rPr lang="en-US" sz="2799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Random Forest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064222" y="6819108"/>
            <a:ext cx="3863771" cy="1263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18162" lvl="1" indent="-259081" algn="l">
              <a:lnSpc>
                <a:spcPts val="3360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Accuracy = 0.99</a:t>
            </a:r>
          </a:p>
          <a:p>
            <a:pPr marL="518162" lvl="1" indent="-259081" algn="l">
              <a:lnSpc>
                <a:spcPts val="3360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Recall = 0.99</a:t>
            </a:r>
          </a:p>
          <a:p>
            <a:pPr marL="518162" lvl="1" indent="-259081" algn="l">
              <a:lnSpc>
                <a:spcPts val="3360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Precision = 0.99</a:t>
            </a:r>
          </a:p>
        </p:txBody>
      </p:sp>
      <p:sp>
        <p:nvSpPr>
          <p:cNvPr id="9" name="Freeform 9"/>
          <p:cNvSpPr/>
          <p:nvPr/>
        </p:nvSpPr>
        <p:spPr>
          <a:xfrm>
            <a:off x="2574122" y="6086559"/>
            <a:ext cx="580149" cy="580149"/>
          </a:xfrm>
          <a:custGeom>
            <a:avLst/>
            <a:gdLst/>
            <a:ahLst/>
            <a:cxnLst/>
            <a:rect l="l" t="t" r="r" b="b"/>
            <a:pathLst>
              <a:path w="580149" h="580149">
                <a:moveTo>
                  <a:pt x="0" y="0"/>
                </a:moveTo>
                <a:lnTo>
                  <a:pt x="580150" y="0"/>
                </a:lnTo>
                <a:lnTo>
                  <a:pt x="580150" y="580149"/>
                </a:lnTo>
                <a:lnTo>
                  <a:pt x="0" y="580149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TextBox 10"/>
          <p:cNvSpPr txBox="1"/>
          <p:nvPr/>
        </p:nvSpPr>
        <p:spPr>
          <a:xfrm>
            <a:off x="9336726" y="6086477"/>
            <a:ext cx="2105643" cy="509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  <a:spcBef>
                <a:spcPct val="0"/>
              </a:spcBef>
            </a:pPr>
            <a:r>
              <a:rPr lang="en-US" sz="2799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XGBoost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153525" y="6819108"/>
            <a:ext cx="3863771" cy="1263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18162" lvl="1" indent="-259081" algn="l">
              <a:lnSpc>
                <a:spcPts val="3360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Accuracy = 0.97</a:t>
            </a:r>
          </a:p>
          <a:p>
            <a:pPr marL="518162" lvl="1" indent="-259081" algn="l">
              <a:lnSpc>
                <a:spcPts val="3360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Recall = 0.99</a:t>
            </a:r>
          </a:p>
          <a:p>
            <a:pPr marL="518162" lvl="1" indent="-259081" algn="l">
              <a:lnSpc>
                <a:spcPts val="3360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Precision = 0.95</a:t>
            </a:r>
          </a:p>
        </p:txBody>
      </p:sp>
      <p:sp>
        <p:nvSpPr>
          <p:cNvPr id="12" name="Freeform 12"/>
          <p:cNvSpPr/>
          <p:nvPr/>
        </p:nvSpPr>
        <p:spPr>
          <a:xfrm>
            <a:off x="8452781" y="6086559"/>
            <a:ext cx="580149" cy="580149"/>
          </a:xfrm>
          <a:custGeom>
            <a:avLst/>
            <a:gdLst/>
            <a:ahLst/>
            <a:cxnLst/>
            <a:rect l="l" t="t" r="r" b="b"/>
            <a:pathLst>
              <a:path w="580149" h="580149">
                <a:moveTo>
                  <a:pt x="0" y="0"/>
                </a:moveTo>
                <a:lnTo>
                  <a:pt x="580149" y="0"/>
                </a:lnTo>
                <a:lnTo>
                  <a:pt x="580149" y="580149"/>
                </a:lnTo>
                <a:lnTo>
                  <a:pt x="0" y="580149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TextBox 13"/>
          <p:cNvSpPr txBox="1"/>
          <p:nvPr/>
        </p:nvSpPr>
        <p:spPr>
          <a:xfrm>
            <a:off x="2404170" y="2353628"/>
            <a:ext cx="10207350" cy="14869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74981" lvl="1" indent="-237491" algn="l">
              <a:lnSpc>
                <a:spcPts val="4136"/>
              </a:lnSpc>
              <a:buFont typeface="Arial"/>
              <a:buChar char="•"/>
            </a:pPr>
            <a:r>
              <a:rPr lang="en-US" sz="2200" spc="8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Enable targeted retention strategies</a:t>
            </a:r>
          </a:p>
          <a:p>
            <a:pPr marL="474981" lvl="1" indent="-237491" algn="l">
              <a:lnSpc>
                <a:spcPts val="3828"/>
              </a:lnSpc>
              <a:buFont typeface="Arial"/>
              <a:buChar char="•"/>
            </a:pPr>
            <a:r>
              <a:rPr lang="en-US" sz="2200" spc="8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Support decision-making for promotions, loyalty programs, and customer support improvements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/>
          <a:stretch>
            <a:fillRect/>
          </a:stretch>
        </p:blipFill>
        <p:spPr>
          <a:xfrm>
            <a:off x="1028700" y="1308240"/>
            <a:ext cx="15808187" cy="8455542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6263645" y="352425"/>
            <a:ext cx="5760711" cy="676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Streamlit App Demo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10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4369663" flipH="1" flipV="1">
            <a:off x="-820388" y="6927786"/>
            <a:ext cx="3698177" cy="4114800"/>
          </a:xfrm>
          <a:custGeom>
            <a:avLst/>
            <a:gdLst/>
            <a:ahLst/>
            <a:cxnLst/>
            <a:rect l="l" t="t" r="r" b="b"/>
            <a:pathLst>
              <a:path w="3698177" h="4114800">
                <a:moveTo>
                  <a:pt x="3698176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3698176" y="0"/>
                </a:lnTo>
                <a:lnTo>
                  <a:pt x="3698176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-635569" y="-860425"/>
            <a:ext cx="2682557" cy="3778250"/>
          </a:xfrm>
          <a:custGeom>
            <a:avLst/>
            <a:gdLst/>
            <a:ahLst/>
            <a:cxnLst/>
            <a:rect l="l" t="t" r="r" b="b"/>
            <a:pathLst>
              <a:path w="2682557" h="3778250">
                <a:moveTo>
                  <a:pt x="0" y="0"/>
                </a:moveTo>
                <a:lnTo>
                  <a:pt x="2682558" y="0"/>
                </a:lnTo>
                <a:lnTo>
                  <a:pt x="2682558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 rot="-5077616" flipH="1">
            <a:off x="15410212" y="7268263"/>
            <a:ext cx="3698176" cy="4114800"/>
          </a:xfrm>
          <a:custGeom>
            <a:avLst/>
            <a:gdLst/>
            <a:ahLst/>
            <a:cxnLst/>
            <a:rect l="l" t="t" r="r" b="b"/>
            <a:pathLst>
              <a:path w="3698176" h="4114800">
                <a:moveTo>
                  <a:pt x="3698176" y="0"/>
                </a:moveTo>
                <a:lnTo>
                  <a:pt x="0" y="0"/>
                </a:lnTo>
                <a:lnTo>
                  <a:pt x="0" y="4114800"/>
                </a:lnTo>
                <a:lnTo>
                  <a:pt x="3698176" y="4114800"/>
                </a:lnTo>
                <a:lnTo>
                  <a:pt x="3698176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16798252" y="-2749550"/>
            <a:ext cx="2682557" cy="3778250"/>
          </a:xfrm>
          <a:custGeom>
            <a:avLst/>
            <a:gdLst/>
            <a:ahLst/>
            <a:cxnLst/>
            <a:rect l="l" t="t" r="r" b="b"/>
            <a:pathLst>
              <a:path w="2682557" h="3778250">
                <a:moveTo>
                  <a:pt x="0" y="0"/>
                </a:moveTo>
                <a:lnTo>
                  <a:pt x="2682557" y="0"/>
                </a:lnTo>
                <a:lnTo>
                  <a:pt x="2682557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9705504" y="3488648"/>
            <a:ext cx="7092747" cy="4997401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1230832" y="3441023"/>
            <a:ext cx="7913168" cy="1495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59"/>
              </a:lnSpc>
            </a:pPr>
            <a:r>
              <a:rPr lang="en-US" sz="4800">
                <a:solidFill>
                  <a:srgbClr val="DD5768"/>
                </a:solidFill>
                <a:latin typeface="Poppins"/>
                <a:ea typeface="Poppins"/>
                <a:cs typeface="Poppins"/>
                <a:sym typeface="Poppins"/>
              </a:rPr>
              <a:t>Next, let’s take a look at our recommendations.</a:t>
            </a:r>
          </a:p>
        </p:txBody>
      </p:sp>
      <p:sp>
        <p:nvSpPr>
          <p:cNvPr id="8" name="Freeform 8"/>
          <p:cNvSpPr/>
          <p:nvPr/>
        </p:nvSpPr>
        <p:spPr>
          <a:xfrm>
            <a:off x="16950652" y="-2597150"/>
            <a:ext cx="2682557" cy="3778250"/>
          </a:xfrm>
          <a:custGeom>
            <a:avLst/>
            <a:gdLst/>
            <a:ahLst/>
            <a:cxnLst/>
            <a:rect l="l" t="t" r="r" b="b"/>
            <a:pathLst>
              <a:path w="2682557" h="3778250">
                <a:moveTo>
                  <a:pt x="0" y="0"/>
                </a:moveTo>
                <a:lnTo>
                  <a:pt x="2682557" y="0"/>
                </a:lnTo>
                <a:lnTo>
                  <a:pt x="2682557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Freeform 9"/>
          <p:cNvSpPr/>
          <p:nvPr/>
        </p:nvSpPr>
        <p:spPr>
          <a:xfrm>
            <a:off x="17103052" y="-2444750"/>
            <a:ext cx="2682557" cy="3778250"/>
          </a:xfrm>
          <a:custGeom>
            <a:avLst/>
            <a:gdLst/>
            <a:ahLst/>
            <a:cxnLst/>
            <a:rect l="l" t="t" r="r" b="b"/>
            <a:pathLst>
              <a:path w="2682557" h="3778250">
                <a:moveTo>
                  <a:pt x="0" y="0"/>
                </a:moveTo>
                <a:lnTo>
                  <a:pt x="2682557" y="0"/>
                </a:lnTo>
                <a:lnTo>
                  <a:pt x="2682557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4369663" flipH="1" flipV="1">
            <a:off x="-820388" y="6927786"/>
            <a:ext cx="3698177" cy="4114800"/>
          </a:xfrm>
          <a:custGeom>
            <a:avLst/>
            <a:gdLst/>
            <a:ahLst/>
            <a:cxnLst/>
            <a:rect l="l" t="t" r="r" b="b"/>
            <a:pathLst>
              <a:path w="3698177" h="4114800">
                <a:moveTo>
                  <a:pt x="3698176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3698176" y="0"/>
                </a:lnTo>
                <a:lnTo>
                  <a:pt x="3698176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 rot="3049477" flipH="1">
            <a:off x="-687921" y="-1099659"/>
            <a:ext cx="2682557" cy="3778250"/>
          </a:xfrm>
          <a:custGeom>
            <a:avLst/>
            <a:gdLst/>
            <a:ahLst/>
            <a:cxnLst/>
            <a:rect l="l" t="t" r="r" b="b"/>
            <a:pathLst>
              <a:path w="2682557" h="3778250">
                <a:moveTo>
                  <a:pt x="2682558" y="0"/>
                </a:moveTo>
                <a:lnTo>
                  <a:pt x="0" y="0"/>
                </a:lnTo>
                <a:lnTo>
                  <a:pt x="0" y="3778250"/>
                </a:lnTo>
                <a:lnTo>
                  <a:pt x="2682558" y="3778250"/>
                </a:lnTo>
                <a:lnTo>
                  <a:pt x="2682558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 rot="-2003265">
            <a:off x="14515281" y="7554866"/>
            <a:ext cx="5488037" cy="2860639"/>
          </a:xfrm>
          <a:custGeom>
            <a:avLst/>
            <a:gdLst/>
            <a:ahLst/>
            <a:cxnLst/>
            <a:rect l="l" t="t" r="r" b="b"/>
            <a:pathLst>
              <a:path w="5488037" h="2860639">
                <a:moveTo>
                  <a:pt x="0" y="0"/>
                </a:moveTo>
                <a:lnTo>
                  <a:pt x="5488038" y="0"/>
                </a:lnTo>
                <a:lnTo>
                  <a:pt x="5488038" y="2860639"/>
                </a:lnTo>
                <a:lnTo>
                  <a:pt x="0" y="286063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12509131" y="3022600"/>
            <a:ext cx="4433339" cy="4405630"/>
          </a:xfrm>
          <a:custGeom>
            <a:avLst/>
            <a:gdLst/>
            <a:ahLst/>
            <a:cxnLst/>
            <a:rect l="l" t="t" r="r" b="b"/>
            <a:pathLst>
              <a:path w="4433339" h="4405630">
                <a:moveTo>
                  <a:pt x="0" y="0"/>
                </a:moveTo>
                <a:lnTo>
                  <a:pt x="4433339" y="0"/>
                </a:lnTo>
                <a:lnTo>
                  <a:pt x="4433339" y="4405630"/>
                </a:lnTo>
                <a:lnTo>
                  <a:pt x="0" y="440563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TextBox 6"/>
          <p:cNvSpPr txBox="1"/>
          <p:nvPr/>
        </p:nvSpPr>
        <p:spPr>
          <a:xfrm>
            <a:off x="1957182" y="1762397"/>
            <a:ext cx="8080889" cy="657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00"/>
              </a:lnSpc>
            </a:pPr>
            <a:r>
              <a:rPr lang="en-US" sz="4000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Business Recommendations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957182" y="3008246"/>
            <a:ext cx="9020997" cy="5638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18160" lvl="1" indent="-259080" algn="l">
              <a:lnSpc>
                <a:spcPts val="4079"/>
              </a:lnSpc>
              <a:buFont typeface="Arial"/>
              <a:buChar char="•"/>
            </a:pPr>
            <a:r>
              <a:rPr lang="en-US" sz="2400" spc="72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Improve retention campaigns for customers with high monthly charges.</a:t>
            </a:r>
          </a:p>
          <a:p>
            <a:pPr marL="518160" lvl="1" indent="-259080" algn="l">
              <a:lnSpc>
                <a:spcPts val="4079"/>
              </a:lnSpc>
              <a:buFont typeface="Arial"/>
              <a:buChar char="•"/>
            </a:pPr>
            <a:r>
              <a:rPr lang="en-US" sz="2400" spc="72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Enhance customer support for those with multiple service complaints.</a:t>
            </a:r>
          </a:p>
          <a:p>
            <a:pPr marL="518160" lvl="1" indent="-259080" algn="l">
              <a:lnSpc>
                <a:spcPts val="4079"/>
              </a:lnSpc>
              <a:buFont typeface="Arial"/>
              <a:buChar char="•"/>
            </a:pPr>
            <a:r>
              <a:rPr lang="en-US" sz="2400" spc="72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Introduce loyalty programs for long-term customers.</a:t>
            </a:r>
          </a:p>
          <a:p>
            <a:pPr marL="518160" lvl="1" indent="-259080" algn="l">
              <a:lnSpc>
                <a:spcPts val="4079"/>
              </a:lnSpc>
              <a:buFont typeface="Arial"/>
              <a:buChar char="•"/>
            </a:pPr>
            <a:r>
              <a:rPr lang="en-US" sz="2400" spc="72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Offer discounts or flexible contracts to high-risk segments.</a:t>
            </a:r>
          </a:p>
          <a:p>
            <a:pPr marL="518160" lvl="1" indent="-259080" algn="l">
              <a:lnSpc>
                <a:spcPts val="4079"/>
              </a:lnSpc>
              <a:buFont typeface="Arial"/>
              <a:buChar char="•"/>
            </a:pPr>
            <a:r>
              <a:rPr lang="en-US" sz="2400" spc="72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Continuous monitoring using dashboards and predictive models.</a:t>
            </a:r>
          </a:p>
          <a:p>
            <a:pPr algn="l">
              <a:lnSpc>
                <a:spcPts val="4079"/>
              </a:lnSpc>
            </a:pPr>
            <a:endParaRPr lang="en-US" sz="2400" spc="72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4369663" flipH="1" flipV="1">
            <a:off x="-820388" y="6927786"/>
            <a:ext cx="3698177" cy="4114800"/>
          </a:xfrm>
          <a:custGeom>
            <a:avLst/>
            <a:gdLst/>
            <a:ahLst/>
            <a:cxnLst/>
            <a:rect l="l" t="t" r="r" b="b"/>
            <a:pathLst>
              <a:path w="3698177" h="4114800">
                <a:moveTo>
                  <a:pt x="3698176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3698176" y="0"/>
                </a:lnTo>
                <a:lnTo>
                  <a:pt x="3698176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-635569" y="-860425"/>
            <a:ext cx="2682557" cy="3778250"/>
          </a:xfrm>
          <a:custGeom>
            <a:avLst/>
            <a:gdLst/>
            <a:ahLst/>
            <a:cxnLst/>
            <a:rect l="l" t="t" r="r" b="b"/>
            <a:pathLst>
              <a:path w="2682557" h="3778250">
                <a:moveTo>
                  <a:pt x="0" y="0"/>
                </a:moveTo>
                <a:lnTo>
                  <a:pt x="2682558" y="0"/>
                </a:lnTo>
                <a:lnTo>
                  <a:pt x="2682558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 rot="-5077616" flipH="1">
            <a:off x="15410212" y="7268263"/>
            <a:ext cx="3698176" cy="4114800"/>
          </a:xfrm>
          <a:custGeom>
            <a:avLst/>
            <a:gdLst/>
            <a:ahLst/>
            <a:cxnLst/>
            <a:rect l="l" t="t" r="r" b="b"/>
            <a:pathLst>
              <a:path w="3698176" h="4114800">
                <a:moveTo>
                  <a:pt x="3698176" y="0"/>
                </a:moveTo>
                <a:lnTo>
                  <a:pt x="0" y="0"/>
                </a:lnTo>
                <a:lnTo>
                  <a:pt x="0" y="4114800"/>
                </a:lnTo>
                <a:lnTo>
                  <a:pt x="3698176" y="4114800"/>
                </a:lnTo>
                <a:lnTo>
                  <a:pt x="3698176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16946721" y="-337650"/>
            <a:ext cx="2682557" cy="3778250"/>
          </a:xfrm>
          <a:custGeom>
            <a:avLst/>
            <a:gdLst/>
            <a:ahLst/>
            <a:cxnLst/>
            <a:rect l="l" t="t" r="r" b="b"/>
            <a:pathLst>
              <a:path w="2682557" h="3778250">
                <a:moveTo>
                  <a:pt x="0" y="0"/>
                </a:moveTo>
                <a:lnTo>
                  <a:pt x="2682558" y="0"/>
                </a:lnTo>
                <a:lnTo>
                  <a:pt x="2682558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12940533" y="5325259"/>
            <a:ext cx="3719937" cy="4221205"/>
          </a:xfrm>
          <a:custGeom>
            <a:avLst/>
            <a:gdLst/>
            <a:ahLst/>
            <a:cxnLst/>
            <a:rect l="l" t="t" r="r" b="b"/>
            <a:pathLst>
              <a:path w="3719937" h="4221205">
                <a:moveTo>
                  <a:pt x="0" y="0"/>
                </a:moveTo>
                <a:lnTo>
                  <a:pt x="3719936" y="0"/>
                </a:lnTo>
                <a:lnTo>
                  <a:pt x="3719936" y="4221205"/>
                </a:lnTo>
                <a:lnTo>
                  <a:pt x="0" y="422120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/>
          <p:cNvSpPr/>
          <p:nvPr/>
        </p:nvSpPr>
        <p:spPr>
          <a:xfrm>
            <a:off x="1851036" y="1028700"/>
            <a:ext cx="2923715" cy="2790819"/>
          </a:xfrm>
          <a:custGeom>
            <a:avLst/>
            <a:gdLst/>
            <a:ahLst/>
            <a:cxnLst/>
            <a:rect l="l" t="t" r="r" b="b"/>
            <a:pathLst>
              <a:path w="2923715" h="2790819">
                <a:moveTo>
                  <a:pt x="0" y="0"/>
                </a:moveTo>
                <a:lnTo>
                  <a:pt x="2923714" y="0"/>
                </a:lnTo>
                <a:lnTo>
                  <a:pt x="2923714" y="2790819"/>
                </a:lnTo>
                <a:lnTo>
                  <a:pt x="0" y="279081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TextBox 8"/>
          <p:cNvSpPr txBox="1"/>
          <p:nvPr/>
        </p:nvSpPr>
        <p:spPr>
          <a:xfrm>
            <a:off x="6200402" y="4529137"/>
            <a:ext cx="5887196" cy="1162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640"/>
              </a:lnSpc>
            </a:pPr>
            <a:r>
              <a:rPr lang="en-US" sz="7200" b="1">
                <a:solidFill>
                  <a:srgbClr val="1D1D1B"/>
                </a:solidFill>
                <a:latin typeface="Poppins Bold"/>
                <a:ea typeface="Poppins Bold"/>
                <a:cs typeface="Poppins Bold"/>
                <a:sym typeface="Poppins Bold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666</Words>
  <Application>Microsoft Office PowerPoint</Application>
  <PresentationFormat>Custom</PresentationFormat>
  <Paragraphs>103</Paragraphs>
  <Slides>27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2" baseType="lpstr">
      <vt:lpstr>Arial</vt:lpstr>
      <vt:lpstr>Poppins</vt:lpstr>
      <vt:lpstr>Calibri</vt:lpstr>
      <vt:lpstr>Poppins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StayZen: Customer Churn Presentation</dc:title>
  <cp:lastModifiedBy>Engi Eid</cp:lastModifiedBy>
  <cp:revision>1</cp:revision>
  <dcterms:created xsi:type="dcterms:W3CDTF">2006-08-16T00:00:00Z</dcterms:created>
  <dcterms:modified xsi:type="dcterms:W3CDTF">2025-12-14T07:48:45Z</dcterms:modified>
  <dc:identifier>DAG6lc7iy34</dc:identifier>
</cp:coreProperties>
</file>